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8"/>
    <p:sldId id="259" r:id="rId9"/>
    <p:sldId id="260" r:id="rId7"/>
    <p:sldId id="261" r:id="rId6"/>
    <p:sldId id="262" r:id="rId5"/>
    <p:sldId id="263" r:id="rId4"/>
    <p:sldId id="264" r:id="rId3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CPU of one service, 40 readings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%</c:v>
                </c:pt>
              </c:strCache>
            </c:strRef>
          </c:tx>
          <c:spPr>
            <a:ln w="28575">
              <a:solidFill>
                <a:srgbClr val="1F2D5C"/>
              </a:solidFill>
            </a:ln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10.6</c:v>
                </c:pt>
                <c:pt idx="1">
                  <c:v>10.7</c:v>
                </c:pt>
                <c:pt idx="2">
                  <c:v>10.0</c:v>
                </c:pt>
                <c:pt idx="3">
                  <c:v>9.6</c:v>
                </c:pt>
                <c:pt idx="4">
                  <c:v>9.5</c:v>
                </c:pt>
                <c:pt idx="5">
                  <c:v>10.0</c:v>
                </c:pt>
                <c:pt idx="6">
                  <c:v>9.5</c:v>
                </c:pt>
                <c:pt idx="7">
                  <c:v>9.3</c:v>
                </c:pt>
                <c:pt idx="8">
                  <c:v>10.1</c:v>
                </c:pt>
                <c:pt idx="9">
                  <c:v>10.1</c:v>
                </c:pt>
                <c:pt idx="10">
                  <c:v>10.3</c:v>
                </c:pt>
                <c:pt idx="11">
                  <c:v>9.5</c:v>
                </c:pt>
                <c:pt idx="12">
                  <c:v>10.0</c:v>
                </c:pt>
                <c:pt idx="13">
                  <c:v>10.0</c:v>
                </c:pt>
                <c:pt idx="14">
                  <c:v>9.2</c:v>
                </c:pt>
                <c:pt idx="15">
                  <c:v>10.3</c:v>
                </c:pt>
                <c:pt idx="16">
                  <c:v>10.2</c:v>
                </c:pt>
                <c:pt idx="17">
                  <c:v>11.2</c:v>
                </c:pt>
                <c:pt idx="18">
                  <c:v>10.1</c:v>
                </c:pt>
                <c:pt idx="19">
                  <c:v>9.9</c:v>
                </c:pt>
                <c:pt idx="20">
                  <c:v>10.6</c:v>
                </c:pt>
                <c:pt idx="21">
                  <c:v>10.1</c:v>
                </c:pt>
                <c:pt idx="22">
                  <c:v>10.5</c:v>
                </c:pt>
                <c:pt idx="23">
                  <c:v>9.8</c:v>
                </c:pt>
                <c:pt idx="24">
                  <c:v>10.1</c:v>
                </c:pt>
                <c:pt idx="25">
                  <c:v>10.5</c:v>
                </c:pt>
                <c:pt idx="26">
                  <c:v>10.3</c:v>
                </c:pt>
                <c:pt idx="27">
                  <c:v>10.1</c:v>
                </c:pt>
                <c:pt idx="28">
                  <c:v>9.5</c:v>
                </c:pt>
                <c:pt idx="29">
                  <c:v>10.2</c:v>
                </c:pt>
                <c:pt idx="30">
                  <c:v>10.0</c:v>
                </c:pt>
                <c:pt idx="31">
                  <c:v>10.4</c:v>
                </c:pt>
                <c:pt idx="32">
                  <c:v>10.1</c:v>
                </c:pt>
                <c:pt idx="33">
                  <c:v>10.5</c:v>
                </c:pt>
                <c:pt idx="34">
                  <c:v>10.0</c:v>
                </c:pt>
                <c:pt idx="35">
                  <c:v>10.1</c:v>
                </c:pt>
                <c:pt idx="36">
                  <c:v>10.3</c:v>
                </c:pt>
                <c:pt idx="37">
                  <c:v>9.5</c:v>
                </c:pt>
                <c:pt idx="38">
                  <c:v>25.0</c:v>
                </c:pt>
                <c:pt idx="39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Faults detected (%)</c:v>
                </c:pt>
              </c:strCache>
            </c:strRef>
          </c:tx>
          <c:spPr>
            <a:solidFill>
              <a:srgbClr val="1F2D5C"/>
            </a:solidFill>
          </c:spPr>
          <c:cat>
            <c:strRef>
              <c:f>Sheet1!$A$2:$A$5</c:f>
              <c:strCache>
                <c:ptCount val="4"/>
                <c:pt idx="0">
                  <c:v>Live mapper</c:v>
                </c:pt>
                <c:pt idx="1">
                  <c:v>Rules fixed</c:v>
                </c:pt>
                <c:pt idx="2">
                  <c:v>Rules tuned</c:v>
                </c:pt>
                <c:pt idx="3">
                  <c:v>Learned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97</c:v>
                </c:pt>
                <c:pt idx="2">
                  <c:v>82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Right service first (%)</c:v>
                </c:pt>
              </c:strCache>
            </c:strRef>
          </c:tx>
          <c:spPr>
            <a:solidFill>
              <a:srgbClr val="9CA3AF"/>
            </a:solidFill>
          </c:spPr>
          <c:cat>
            <c:strRef>
              <c:f>Sheet1!$A$2:$A$5</c:f>
              <c:strCache>
                <c:ptCount val="4"/>
                <c:pt idx="0">
                  <c:v>Live mapper</c:v>
                </c:pt>
                <c:pt idx="1">
                  <c:v>Rules fixed</c:v>
                </c:pt>
                <c:pt idx="2">
                  <c:v>Rules tuned</c:v>
                </c:pt>
                <c:pt idx="3">
                  <c:v>Learned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55</c:v>
                </c:pt>
                <c:pt idx="2">
                  <c:v>46</c:v>
                </c:pt>
                <c:pt idx="3">
                  <c:v>53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False alarms per hour</c:v>
                </c:pt>
              </c:strCache>
            </c:strRef>
          </c:tx>
          <c:spPr>
            <a:solidFill>
              <a:srgbClr val="B45309"/>
            </a:solidFill>
          </c:spPr>
          <c:cat>
            <c:strRef>
              <c:f>Sheet1!$A$2:$A$5</c:f>
              <c:strCache>
                <c:ptCount val="4"/>
                <c:pt idx="0">
                  <c:v>Live</c:v>
                </c:pt>
                <c:pt idx="1">
                  <c:v>Fixed</c:v>
                </c:pt>
                <c:pt idx="2">
                  <c:v>Tuned</c:v>
                </c:pt>
                <c:pt idx="3">
                  <c:v>Learned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5.9</c:v>
                </c:pt>
                <c:pt idx="1">
                  <c:v>8.9</c:v>
                </c:pt>
                <c:pt idx="2">
                  <c:v>4.4</c:v>
                </c:pt>
                <c:pt idx="3">
                  <c:v>3.0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10A43-2EB0-4675-B82C-8AC37024749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02659-CF14-48A8-8A56-882470F28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90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91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it is, what it does, how we tested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problem is hard for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failure travels along the call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Related root-cause work. Our difference: observe from outside, plus a forecast of the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existing tools do not already solve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parts, each one answers a gap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of the work: size, testing and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target host, nothing installed. Middle: our backend. Right: what the operator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steps, repeated every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Spatial view of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Incidents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Cascade risk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a service with itself. Two readings in a row, so one odd number does not trigger an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Failures travel against the calls, so a service explained by a broken service it calls is a victim.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service passes on most of the danger it sees from the services it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tried a learned model against our hand-built rules and tested it fairly.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fault injector breaks services on purpose and keeps a private answer key. The mapper never sees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held-out test data for every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Higher is better for detection and naming; lower is better for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 and one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5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2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62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4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1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98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3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2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1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6048383" y="6321483"/>
            <a:ext cx="1445259" cy="23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50" b="0" i="0">
                <a:solidFill>
                  <a:srgbClr val="7C7C7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31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7500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520388" y="688269"/>
            <a:ext cx="11151223" cy="813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23153" y="1618544"/>
            <a:ext cx="11129645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5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6048383" y="6321483"/>
            <a:ext cx="1445259" cy="23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50" b="0" i="0">
                <a:solidFill>
                  <a:srgbClr val="7C7C7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31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764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3644277" y="688269"/>
            <a:ext cx="4846320" cy="52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5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6048383" y="6321483"/>
            <a:ext cx="1445259" cy="23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50" b="0" i="0">
                <a:solidFill>
                  <a:srgbClr val="7C7C7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314" cy="22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8518"/>
              </a:lnSpc>
              <a:spcBef>
                <a:spcPts val="0"/>
              </a:spcBef>
              <a:buNone/>
              <a:defRPr sz="1350" b="0" i="0" spc="-25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07460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49DE-B617-4B4C-9191-69216CB371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C700D-733F-4668-99FB-35FDD541F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2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5284485" y="628923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1</a:t>
            </a:fld>
            <a:endParaRPr spc="-25"/>
          </a:p>
        </p:txBody>
      </p:sp>
      <p:sp>
        <p:nvSpPr>
          <p:cNvPr id="50" name="Google Shape;50;p7"/>
          <p:cNvSpPr txBox="1"/>
          <p:nvPr/>
        </p:nvSpPr>
        <p:spPr>
          <a:xfrm>
            <a:off x="1613825" y="66500"/>
            <a:ext cx="105045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184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50" spc="140">
                <a:solidFill>
                  <a:srgbClr val="F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MANGALORE</a:t>
            </a:r>
            <a:r>
              <a:rPr lang="en-IN" sz="2550" spc="295">
                <a:solidFill>
                  <a:srgbClr val="F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550" spc="114">
                <a:solidFill>
                  <a:srgbClr val="F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</a:t>
            </a:r>
            <a:r>
              <a:rPr lang="en-IN" sz="2550">
                <a:solidFill>
                  <a:srgbClr val="F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550" spc="140">
                <a:solidFill>
                  <a:srgbClr val="F900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IN" sz="2550" spc="165">
                <a:solidFill>
                  <a:srgbClr val="F900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550" spc="140">
                <a:solidFill>
                  <a:srgbClr val="FB0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</a:t>
            </a:r>
            <a:r>
              <a:rPr lang="en-IN" sz="2550">
                <a:solidFill>
                  <a:srgbClr val="FB07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</a:t>
            </a:r>
            <a:r>
              <a:rPr lang="en-IN" sz="2550" spc="125">
                <a:solidFill>
                  <a:srgbClr val="FB0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484755" lvl="0" indent="0" algn="l" rtl="0">
              <a:lnSpc>
                <a:spcPct val="11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>
                <a:solidFill>
                  <a:srgbClr val="001F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</a:t>
            </a:r>
            <a:r>
              <a:rPr lang="en-IN" sz="1900" spc="215">
                <a:solidFill>
                  <a:srgbClr val="001F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21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</a:t>
            </a:r>
            <a:r>
              <a:rPr lang="en-IN" sz="1900" spc="204">
                <a:solidFill>
                  <a:srgbClr val="00216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IN" sz="1900" spc="120">
                <a:solidFill>
                  <a:srgbClr val="0021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21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Rajalaxmi</a:t>
            </a:r>
            <a:r>
              <a:rPr lang="en-IN" sz="1900" spc="204">
                <a:solidFill>
                  <a:srgbClr val="0021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318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r>
              <a:rPr lang="en-IN" sz="1900" spc="315">
                <a:solidFill>
                  <a:srgbClr val="0318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8216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</a:t>
            </a:r>
            <a:r>
              <a:rPr lang="en-IN" sz="1900">
                <a:solidFill>
                  <a:srgbClr val="051F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O,</a:t>
            </a:r>
            <a:r>
              <a:rPr lang="en-IN" sz="1900" spc="95">
                <a:solidFill>
                  <a:srgbClr val="051F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-10">
                <a:solidFill>
                  <a:srgbClr val="001F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Mangalore)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43075" marR="562610" lvl="0" indent="-711200" algn="l" rtl="0">
              <a:lnSpc>
                <a:spcPct val="118421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IN" sz="1900">
                <a:solidFill>
                  <a:srgbClr val="011C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</a:t>
            </a:r>
            <a:r>
              <a:rPr lang="en-IN" sz="1900" spc="200">
                <a:solidFill>
                  <a:srgbClr val="011C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521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</a:t>
            </a:r>
            <a:r>
              <a:rPr lang="en-IN" sz="1900" spc="170">
                <a:solidFill>
                  <a:srgbClr val="0521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11F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affiEated</a:t>
            </a:r>
            <a:r>
              <a:rPr lang="en-IN" sz="1900" spc="155">
                <a:solidFill>
                  <a:srgbClr val="011F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11C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lang="en-IN" sz="1900" spc="-55">
                <a:solidFill>
                  <a:srgbClr val="0524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V.T.U.,</a:t>
            </a:r>
            <a:r>
              <a:rPr lang="en-IN" sz="1900" spc="60">
                <a:solidFill>
                  <a:srgbClr val="05246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321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Belagavi,</a:t>
            </a:r>
            <a:r>
              <a:rPr lang="en-IN" sz="1900" spc="180">
                <a:solidFill>
                  <a:srgbClr val="0321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1D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Approved</a:t>
            </a:r>
            <a:r>
              <a:rPr lang="en-IN" sz="1900" spc="320">
                <a:solidFill>
                  <a:srgbClr val="001D5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1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IN" sz="1900" spc="70">
                <a:solidFill>
                  <a:srgbClr val="001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321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AICTE,</a:t>
            </a:r>
            <a:r>
              <a:rPr lang="en-IN" sz="1900" spc="165">
                <a:solidFill>
                  <a:srgbClr val="0321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-30">
                <a:solidFill>
                  <a:srgbClr val="001C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IN" sz="1900" spc="150">
                <a:solidFill>
                  <a:srgbClr val="001C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-10">
                <a:solidFill>
                  <a:srgbClr val="031C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Delhi. </a:t>
            </a:r>
            <a:r>
              <a:rPr lang="en-IN" sz="1900">
                <a:solidFill>
                  <a:srgbClr val="001F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Accredited</a:t>
            </a:r>
            <a:r>
              <a:rPr lang="en-IN" sz="1900" spc="265">
                <a:solidFill>
                  <a:srgbClr val="001F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11F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IN" sz="1900" spc="65">
                <a:solidFill>
                  <a:srgbClr val="011F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-10">
                <a:solidFill>
                  <a:srgbClr val="031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NAAC</a:t>
            </a:r>
            <a:r>
              <a:rPr lang="en-IN" sz="1900" spc="135">
                <a:solidFill>
                  <a:srgbClr val="031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23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r>
              <a:rPr lang="en-IN" sz="1900" spc="55">
                <a:solidFill>
                  <a:srgbClr val="0023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21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A+</a:t>
            </a:r>
            <a:r>
              <a:rPr lang="en-IN" sz="1900" spc="85">
                <a:solidFill>
                  <a:srgbClr val="0021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55">
                <a:solidFill>
                  <a:srgbClr val="0021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Grade,</a:t>
            </a:r>
            <a:r>
              <a:rPr lang="en-IN" sz="1900" spc="10">
                <a:solidFill>
                  <a:srgbClr val="0021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1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-IN" sz="1900" spc="75">
                <a:solidFill>
                  <a:srgbClr val="001F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1F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</a:t>
            </a:r>
            <a:r>
              <a:rPr lang="en-IN" sz="1900" spc="-5">
                <a:solidFill>
                  <a:srgbClr val="001F5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518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9001:</a:t>
            </a:r>
            <a:r>
              <a:rPr lang="en-IN" sz="1900" spc="100">
                <a:solidFill>
                  <a:srgbClr val="0518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-10">
                <a:solidFill>
                  <a:srgbClr val="0023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2015</a:t>
            </a:r>
            <a:r>
              <a:rPr lang="en-IN" sz="1900" spc="15">
                <a:solidFill>
                  <a:srgbClr val="0023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>
                <a:solidFill>
                  <a:srgbClr val="001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Certified</a:t>
            </a:r>
            <a:r>
              <a:rPr lang="en-IN" sz="1900" spc="90">
                <a:solidFill>
                  <a:srgbClr val="001F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-10">
                <a:solidFill>
                  <a:srgbClr val="071D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240426" y="1561884"/>
            <a:ext cx="11754900" cy="302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9375" rIns="0" bIns="0" anchor="t" anchorCtr="0">
            <a:spAutoFit/>
          </a:bodyPr>
          <a:lstStyle/>
          <a:p>
            <a:pPr marL="1536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dirty="0">
                <a:solidFill>
                  <a:srgbClr val="006E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</a:t>
            </a:r>
            <a:r>
              <a:rPr lang="en-IN" sz="2100" spc="370" dirty="0">
                <a:solidFill>
                  <a:srgbClr val="006E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00" spc="140" dirty="0">
                <a:solidFill>
                  <a:srgbClr val="0070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IN" sz="2100" spc="50" dirty="0">
                <a:solidFill>
                  <a:srgbClr val="0070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00" spc="95" dirty="0">
                <a:solidFill>
                  <a:srgbClr val="0072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</a:t>
            </a:r>
            <a:r>
              <a:rPr lang="en-IN" sz="2100" spc="-5" dirty="0">
                <a:solidFill>
                  <a:srgbClr val="0072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00" spc="70" dirty="0">
                <a:solidFill>
                  <a:srgbClr val="0570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</a:t>
            </a:r>
            <a:r>
              <a:rPr lang="en-IN" sz="2100" spc="490" dirty="0">
                <a:solidFill>
                  <a:srgbClr val="0570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00" dirty="0">
                <a:solidFill>
                  <a:srgbClr val="00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IN" sz="2100" spc="185" dirty="0">
                <a:solidFill>
                  <a:srgbClr val="00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00" spc="65" dirty="0">
                <a:solidFill>
                  <a:srgbClr val="0070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</a:t>
            </a:r>
            <a:r>
              <a:rPr lang="en-IN" sz="2100" spc="330" dirty="0">
                <a:solidFill>
                  <a:srgbClr val="0070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100" spc="-10" dirty="0">
                <a:solidFill>
                  <a:srgbClr val="0172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" lvl="0" indent="0" algn="ctr" rtl="0">
              <a:spcBef>
                <a:spcPts val="1505"/>
              </a:spcBef>
              <a:spcAft>
                <a:spcPts val="0"/>
              </a:spcAft>
              <a:buNone/>
            </a:pPr>
            <a:r>
              <a:rPr lang="en-IN" sz="3850" dirty="0">
                <a:solidFill>
                  <a:srgbClr val="0C54D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lang="en-IN" sz="3850" spc="500" dirty="0">
                <a:solidFill>
                  <a:srgbClr val="0C54D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850" spc="-10" dirty="0">
                <a:solidFill>
                  <a:srgbClr val="0A5D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II</a:t>
            </a:r>
            <a:endParaRPr sz="3850" spc="-1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" lvl="0" indent="0" algn="ctr" rtl="0">
              <a:spcBef>
                <a:spcPts val="1505"/>
              </a:spcBef>
              <a:spcAft>
                <a:spcPts val="0"/>
              </a:spcAft>
              <a:buNone/>
            </a:pPr>
            <a:r>
              <a:rPr lang="en-IN" sz="1850" dirty="0">
                <a:solidFill>
                  <a:srgbClr val="0F59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(Subject</a:t>
            </a:r>
            <a:r>
              <a:rPr lang="en-IN" sz="1850" spc="409" dirty="0">
                <a:solidFill>
                  <a:srgbClr val="0F59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50" spc="-10" dirty="0">
                <a:solidFill>
                  <a:srgbClr val="135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Code:23AISE409)</a:t>
            </a:r>
            <a:endParaRPr sz="2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5" lvl="0" algn="ctr">
              <a:spcBef>
                <a:spcPts val="1505"/>
              </a:spcBef>
            </a:pPr>
            <a:r>
              <a:rPr lang="en-IN" sz="2600" dirty="0">
                <a:solidFill>
                  <a:srgbClr val="F2030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IN" sz="18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Cascading Failure and Agent Assisted Root Cause Analysis for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Systems</a:t>
            </a:r>
            <a:r>
              <a:rPr lang="en-IN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IN" sz="2600" spc="-10" dirty="0">
                <a:solidFill>
                  <a:srgbClr val="FB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endParaRPr sz="2600" spc="-10" dirty="0">
              <a:solidFill>
                <a:srgbClr val="FB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77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u="sng" dirty="0">
                <a:solidFill>
                  <a:srgbClr val="2323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lang="en-IN" sz="2200" b="1" u="sng" spc="275" dirty="0">
                <a:solidFill>
                  <a:srgbClr val="2323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200" b="1" u="sng" spc="-10" dirty="0">
                <a:solidFill>
                  <a:srgbClr val="2323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Associates:</a:t>
            </a:r>
            <a:endParaRPr sz="22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240422" y="4468253"/>
            <a:ext cx="3882000" cy="170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75" rIns="0" bIns="0" anchor="t" anchorCtr="0">
            <a:spAutoFit/>
          </a:bodyPr>
          <a:lstStyle/>
          <a:p>
            <a:pPr marL="12700" marR="5080" lvl="0" indent="4445" algn="l" rtl="0">
              <a:lnSpc>
                <a:spcPct val="115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/>
              <a:t/>
            </a:r>
            <a:br>
              <a:rPr lang="en-IN" sz="1800" dirty="0"/>
            </a:br>
            <a:r>
              <a:rPr lang="en-IN" sz="1900" spc="45" dirty="0" smtClean="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IN" sz="1900" spc="45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Bharath</a:t>
            </a:r>
            <a:r>
              <a:rPr lang="en-IN" sz="1900" spc="45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45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Parmar</a:t>
            </a:r>
            <a:r>
              <a:rPr lang="en-IN" sz="1900" spc="45" dirty="0">
                <a:latin typeface="Times New Roman"/>
                <a:ea typeface="Times New Roman"/>
                <a:cs typeface="Times New Roman"/>
                <a:sym typeface="Times New Roman"/>
              </a:rPr>
              <a:t> (</a:t>
            </a:r>
            <a:r>
              <a:rPr lang="en-IN" sz="1900" spc="45" dirty="0" smtClean="0">
                <a:latin typeface="Times New Roman"/>
                <a:ea typeface="Times New Roman"/>
                <a:cs typeface="Times New Roman"/>
                <a:sym typeface="Times New Roman"/>
              </a:rPr>
              <a:t>4MT24AI402)</a:t>
            </a:r>
            <a:r>
              <a:rPr lang="en-IN" sz="1900" spc="45" dirty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dirty="0"/>
          </a:p>
          <a:p>
            <a:pPr marL="12700" marR="5080" lvl="0" indent="4445" algn="l" rtl="0">
              <a:lnSpc>
                <a:spcPct val="1155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IN" sz="1850" spc="45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Royson</a:t>
            </a:r>
            <a:r>
              <a:rPr lang="en-IN" sz="1850" spc="45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50" spc="45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salis</a:t>
            </a:r>
            <a:r>
              <a:rPr lang="en-IN" sz="1850" spc="45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50" spc="-1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IN" sz="1850" spc="-10" dirty="0" smtClean="0">
                <a:latin typeface="Times New Roman"/>
                <a:ea typeface="Times New Roman"/>
                <a:cs typeface="Times New Roman"/>
                <a:sym typeface="Times New Roman"/>
              </a:rPr>
              <a:t>4MT23AI046)</a:t>
            </a:r>
            <a:endParaRPr sz="1850" spc="-1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4445" algn="l" rtl="0">
              <a:lnSpc>
                <a:spcPct val="1155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IN" sz="1900" spc="-10" dirty="0" smtClean="0">
                <a:latin typeface="Times New Roman"/>
                <a:ea typeface="Times New Roman"/>
                <a:cs typeface="Times New Roman"/>
                <a:sym typeface="Times New Roman"/>
              </a:rPr>
              <a:t>Anish C</a:t>
            </a:r>
            <a:r>
              <a:rPr lang="en-IN" sz="1900" spc="-10" dirty="0">
                <a:latin typeface="Times New Roman"/>
                <a:ea typeface="Times New Roman"/>
                <a:cs typeface="Times New Roman"/>
                <a:sym typeface="Times New Roman"/>
              </a:rPr>
              <a:t> (</a:t>
            </a:r>
            <a:r>
              <a:rPr lang="en-IN" sz="1900" spc="-10" dirty="0" smtClean="0">
                <a:latin typeface="Times New Roman"/>
                <a:ea typeface="Times New Roman"/>
                <a:cs typeface="Times New Roman"/>
                <a:sym typeface="Times New Roman"/>
              </a:rPr>
              <a:t>4MT23AI008)</a:t>
            </a:r>
            <a:endParaRPr sz="1800" dirty="0" smtClean="0"/>
          </a:p>
          <a:p>
            <a:pPr marL="12700" marR="5080" lvl="0" indent="4445" algn="l" rtl="0">
              <a:lnSpc>
                <a:spcPct val="1155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IN" sz="1850" spc="-1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Dhanush</a:t>
            </a:r>
            <a:r>
              <a:rPr lang="en-IN" sz="1850" spc="-10" dirty="0" smtClean="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lang="en-IN" sz="1850" spc="-10" dirty="0" smtClean="0">
                <a:latin typeface="Times New Roman"/>
                <a:ea typeface="Times New Roman"/>
                <a:cs typeface="Times New Roman"/>
                <a:sym typeface="Times New Roman"/>
              </a:rPr>
              <a:t>(4MT23AI401) </a:t>
            </a:r>
            <a:endParaRPr sz="1850" spc="-1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8612155" y="4870410"/>
            <a:ext cx="3342510" cy="1428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33375" marR="5080" lvl="0" indent="-321310" algn="ctr" rtl="0">
              <a:lnSpc>
                <a:spcPct val="11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 u="sng" dirty="0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</a:t>
            </a:r>
            <a:r>
              <a:rPr lang="en-IN" sz="1900" u="sng" spc="225" dirty="0">
                <a:solidFill>
                  <a:srgbClr val="C68C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u="sng" dirty="0">
                <a:solidFill>
                  <a:srgbClr val="C3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IN" sz="1900" u="sng" spc="165" dirty="0">
                <a:solidFill>
                  <a:srgbClr val="C3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u="sng" dirty="0">
                <a:solidFill>
                  <a:srgbClr val="BA03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</a:t>
            </a:r>
            <a:r>
              <a:rPr lang="en-IN" sz="1900" u="sng" spc="280" dirty="0">
                <a:solidFill>
                  <a:srgbClr val="BA03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u="sng" dirty="0">
                <a:solidFill>
                  <a:srgbClr val="B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of:</a:t>
            </a:r>
            <a:r>
              <a:rPr lang="en-IN" sz="1900" u="sng" spc="125" dirty="0">
                <a:solidFill>
                  <a:srgbClr val="B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900" spc="125" dirty="0">
                <a:solidFill>
                  <a:srgbClr val="B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5" marR="5080" lvl="0" indent="-321310" algn="ctr" rtl="0">
              <a:lnSpc>
                <a:spcPct val="1129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IN" sz="2000" cap="none" dirty="0">
                <a:solidFill>
                  <a:schemeClr val="dk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IN" sz="2000" cap="none" dirty="0" smtClean="0">
                <a:solidFill>
                  <a:schemeClr val="dk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MANJUNATH PRASAD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5" marR="5080" lvl="0" indent="-321310" algn="ctr" rtl="0">
              <a:lnSpc>
                <a:spcPct val="1129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IN" sz="2000" spc="-25" dirty="0">
                <a:solidFill>
                  <a:schemeClr val="dk1"/>
                </a:solidFill>
                <a:highlight>
                  <a:srgbClr val="FAFAF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Head of Department</a:t>
            </a:r>
            <a:endParaRPr sz="2000" spc="-10" dirty="0">
              <a:solidFill>
                <a:schemeClr val="dk1"/>
              </a:solidFill>
              <a:highlight>
                <a:srgbClr val="FAFAF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5" marR="5080" lvl="0" indent="-321310" algn="ctr" rtl="0">
              <a:lnSpc>
                <a:spcPct val="112900"/>
              </a:lnSpc>
              <a:spcBef>
                <a:spcPts val="125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</a:t>
            </a:r>
            <a:r>
              <a:rPr lang="en-IN" sz="2000" spc="4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IN" sz="2000" spc="-1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000" spc="-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AIML 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136" y="180065"/>
            <a:ext cx="1348361" cy="13818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325916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CONTENTS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731520" y="1280160"/>
            <a:ext cx="10698480" cy="457200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5840" y="1417320"/>
            <a:ext cx="1014984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Abstract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Introduction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Problem Statement and Objectives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Literature Survey and Research Gap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Proposed System and Work Done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Requirements, Architecture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The Product: Live Screens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How the Algorithms Work (in plain words)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Testing, Evaluation and Results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Conclusion and Future Work</a:t>
            </a:r>
          </a:p>
          <a:p>
            <a:pPr>
              <a:spcAft>
                <a:spcPts val="700"/>
              </a:spcAft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ABSTRACT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TextBox 76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2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When one microservice fails, the services that depend on it fail too, and finding the real cause is slow.</a:t>
            </a:r>
          </a:p>
          <a:p>
            <a:pPr marL="285750" indent="-285750">
              <a:spcAft>
                <a:spcPts val="2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We built Microservice Mapper: it watches a running system from outside, learns what is normal for each service, and draws the live map.</a:t>
            </a:r>
          </a:p>
          <a:p>
            <a:pPr marL="285750" indent="-285750">
              <a:spcAft>
                <a:spcPts val="2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When something breaks it names the most likely root cause and warns which healthy services are in danger next.</a:t>
            </a:r>
          </a:p>
          <a:p>
            <a:pPr marL="285750" indent="-285750">
              <a:spcAft>
                <a:spcPts val="20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Times New Roman"/>
              </a:rPr>
              <a:t>We tested it on two systems with 34 deliberately injected faults: it caught 97%, and pointed at the right service first in 58% of those.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INTRODUCTION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822960" y="1325880"/>
            <a:ext cx="1051560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Many small services</a:t>
            </a:r>
          </a:p>
          <a:p>
            <a:pPr algn="l"/>
            <a:r>
              <a:rPr sz="1800" b="0" i="0">
                <a:solidFill>
                  <a:srgbClr val="000000"/>
                </a:solidFill>
                <a:latin typeface="Times New Roman"/>
              </a:rPr>
              <a:t>An online shop is not one program. It is a frontend, a cart, payments, orders, a database... that call each other.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" y="2926080"/>
            <a:ext cx="1051560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One failure, many alarms</a:t>
            </a:r>
          </a:p>
          <a:p>
            <a:pPr algn="l"/>
            <a:r>
              <a:rPr sz="1800" b="0" i="0">
                <a:solidFill>
                  <a:srgbClr val="000000"/>
                </a:solidFill>
                <a:latin typeface="Times New Roman"/>
              </a:rPr>
              <a:t>When the database stops, orders fails, then the frontend fails. The engineer sees three red services and must guess which one started it.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526280"/>
            <a:ext cx="10515600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What we built</a:t>
            </a:r>
          </a:p>
          <a:p>
            <a:pPr algn="l"/>
            <a:r>
              <a:rPr sz="1800" b="0" i="0">
                <a:solidFill>
                  <a:srgbClr val="000000"/>
                </a:solidFill>
                <a:latin typeface="Times New Roman"/>
              </a:rPr>
              <a:t>A tool that finds the starting point and warns who is next, without touching the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ounded Rectangle 76"/>
          <p:cNvSpPr/>
          <p:nvPr/>
        </p:nvSpPr>
        <p:spPr>
          <a:xfrm>
            <a:off x="822960" y="146304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frontend</a:t>
            </a:r>
          </a:p>
          <a:p>
            <a:pPr algn="ctr"/>
            <a:r>
              <a:rPr sz="1200" b="0" i="0">
                <a:solidFill>
                  <a:srgbClr val="666666"/>
                </a:solidFill>
                <a:latin typeface="Times New Roman"/>
              </a:rPr>
              <a:t>fails last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51760" y="201168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2834640" y="146304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orders</a:t>
            </a:r>
          </a:p>
          <a:p>
            <a:pPr algn="ctr"/>
            <a:r>
              <a:rPr sz="1200" b="0" i="0">
                <a:solidFill>
                  <a:srgbClr val="666666"/>
                </a:solidFill>
                <a:latin typeface="Times New Roman"/>
              </a:rPr>
              <a:t>fails second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663440" y="2011680"/>
            <a:ext cx="18288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4846320" y="146304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254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database</a:t>
            </a:r>
          </a:p>
          <a:p>
            <a:pPr algn="ctr"/>
            <a:r>
              <a:rPr sz="1200" b="0" i="0">
                <a:solidFill>
                  <a:srgbClr val="666666"/>
                </a:solidFill>
                <a:latin typeface="Times New Roman"/>
              </a:rPr>
              <a:t>fails first: the real cause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2697480"/>
            <a:ext cx="6035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Times New Roman"/>
              </a:rPr>
              <a:t>calls go this way, failures travel back the other way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3291840"/>
            <a:ext cx="6217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400"/>
              </a:spcAft>
              <a:buChar char="•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Monitoring shows every red service equally.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A fixed alert limit is wrong: normal is different for every service.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100" b="0" i="0">
                <a:solidFill>
                  <a:srgbClr val="000000"/>
                </a:solidFill>
                <a:latin typeface="Times New Roman"/>
              </a:rPr>
              <a:t>Nobody tells you which service will fail next.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89520" y="1463040"/>
            <a:ext cx="4023360" cy="420624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What is needed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A lightweight, explainable tool that learns normal, names the likely root cause, and estimates who is at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1  Observe</a:t>
            </a:r>
          </a:p>
          <a:p>
            <a:pPr algn="l"/>
            <a:r>
              <a:rPr sz="2100" b="0" i="0">
                <a:solidFill>
                  <a:srgbClr val="000000"/>
                </a:solidFill>
                <a:latin typeface="Times New Roman"/>
              </a:rPr>
              <a:t>Discover the services and who calls whom from outside, and draw a live map.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2  Explain</a:t>
            </a:r>
          </a:p>
          <a:p>
            <a:pPr algn="l"/>
            <a:r>
              <a:rPr sz="2100" b="0" i="0">
                <a:solidFill>
                  <a:srgbClr val="000000"/>
                </a:solidFill>
                <a:latin typeface="Times New Roman"/>
              </a:rPr>
              <a:t>Learn each service's normal, detect problems, and rank the root cause.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3  Predict</a:t>
            </a:r>
          </a:p>
          <a:p>
            <a:pPr algn="l"/>
            <a:r>
              <a:rPr sz="2100" b="0" i="0">
                <a:solidFill>
                  <a:srgbClr val="000000"/>
                </a:solidFill>
                <a:latin typeface="Times New Roman"/>
              </a:rPr>
              <a:t>Estimate which healthy services fail next, and measure it honestly.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/>
                <a:gridCol w="3291840"/>
                <a:gridCol w="2468880"/>
                <a:gridCol w="29260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Paper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Limitation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 i="0">
                          <a:solidFill>
                            <a:srgbClr val="FFFFFF"/>
                          </a:solidFill>
                          <a:latin typeface="Times New Roman"/>
                        </a:rPr>
                        <a:t>What we add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MicroRCA [1]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Service graph, ranking by anomaly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Ranks causes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Cascade forecast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CloudRanger [2]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Causal links between metrics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Needs long history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Short warm-up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Microscope [3]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Causality graph from connections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No spread estimate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Risk probabilities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Sage [4]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Causal model, machine learning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Needs model training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Works with no training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Ikram et al. [5]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Causal discovery on metrics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Needs lots of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Cause versus victim from call graph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RESEARCH GAP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822960" y="1371600"/>
            <a:ext cx="512064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Separate steps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Detecting and finding the cause are usually different tools.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1371600"/>
            <a:ext cx="512064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Fixed limits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Every service has its own normal, one limit fits none.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3566160"/>
            <a:ext cx="512064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Heavy setup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Many need agents or labelled history first.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3566160"/>
            <a:ext cx="5120640" cy="192024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No forecast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Rarely tells you who will fail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PROPOSED SYSTEM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822960" y="1280160"/>
            <a:ext cx="73152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554480" y="1280160"/>
            <a:ext cx="978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Watch from outside: SSH, Docker, sockets. Nothing installed.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2194560"/>
            <a:ext cx="73152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554480" y="2194560"/>
            <a:ext cx="978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Live map: every link has a confidence.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" y="3108960"/>
            <a:ext cx="73152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108960"/>
            <a:ext cx="978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Learn normal for each service from its own history.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2960" y="4023360"/>
            <a:ext cx="73152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54480" y="4023360"/>
            <a:ext cx="978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Rank the root cause and forecast the spread.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" y="4937760"/>
            <a:ext cx="73152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05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554480" y="4937760"/>
            <a:ext cx="978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2200" b="0" i="0">
                <a:solidFill>
                  <a:srgbClr val="000000"/>
                </a:solidFill>
                <a:latin typeface="Times New Roman"/>
              </a:rPr>
              <a:t>Prove it with deliberately injected faults.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WORK DONE IN NUMBERS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640080" y="1371600"/>
            <a:ext cx="34747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 i="0">
                <a:solidFill>
                  <a:srgbClr val="1F2D5C"/>
                </a:solidFill>
                <a:latin typeface="Times New Roman"/>
              </a:rPr>
              <a:t>39,000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lines of TypeScript
(server, collector, dashboard)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34840" y="1371600"/>
            <a:ext cx="34747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 i="0">
                <a:solidFill>
                  <a:srgbClr val="1F2D5C"/>
                </a:solidFill>
                <a:latin typeface="Times New Roman"/>
              </a:rPr>
              <a:t>10,000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lines of Python
(ML pipeline, simplified logic)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1371600"/>
            <a:ext cx="34747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 i="0">
                <a:solidFill>
                  <a:srgbClr val="1F2D5C"/>
                </a:solidFill>
                <a:latin typeface="Times New Roman"/>
              </a:rPr>
              <a:t>296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automated tests, all passing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3749039"/>
            <a:ext cx="34747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 i="0">
                <a:solidFill>
                  <a:srgbClr val="1F2D5C"/>
                </a:solidFill>
                <a:latin typeface="Times New Roman"/>
              </a:rPr>
              <a:t>50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documentation chapters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34840" y="3749039"/>
            <a:ext cx="34747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 i="0">
                <a:solidFill>
                  <a:srgbClr val="1F2D5C"/>
                </a:solidFill>
                <a:latin typeface="Times New Roman"/>
              </a:rPr>
              <a:t>2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benchmark systems on AWS EC2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3749039"/>
            <a:ext cx="34747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 i="0">
                <a:solidFill>
                  <a:srgbClr val="1F2D5C"/>
                </a:solidFill>
                <a:latin typeface="Times New Roman"/>
              </a:rPr>
              <a:t>34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faults injected over 217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REQUIREMENTS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640080" y="1280160"/>
            <a:ext cx="5394960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1920239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Find services and links over SSH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Detect abnormal services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Rank the root cause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Predict services at risk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60" y="1280160"/>
            <a:ext cx="5394960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1920239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 code change in the services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Runs on a normal CPU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Every score has a reason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Keys stay on your machine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3611879"/>
            <a:ext cx="5394960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Software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251959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Node.js, TypeScript, React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Docker on the target host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Python 3 (optional ML)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SSH access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3611879"/>
            <a:ext cx="5394960" cy="5486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Hardware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9360" y="4251959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Any laptop or server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Linux host with Docker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Tested on AWS EC2</a:t>
            </a:r>
          </a:p>
          <a:p>
            <a:pPr marL="285750" indent="-285750">
              <a:spcAft>
                <a:spcPts val="5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 GPU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ounded Rectangle 76"/>
          <p:cNvSpPr/>
          <p:nvPr/>
        </p:nvSpPr>
        <p:spPr>
          <a:xfrm>
            <a:off x="365760" y="1188720"/>
            <a:ext cx="3108960" cy="45720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317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1261872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B45309"/>
                </a:solidFill>
                <a:latin typeface="Times New Roman"/>
              </a:rPr>
              <a:t>Target host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1691640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Times New Roman"/>
              </a:rPr>
              <a:t>no agent installed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1874519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Containers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the running services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2834639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Docker API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stats, logs, events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" y="379476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Socket tables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who talks to whom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475488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Config file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declared dependencies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206240" y="1188720"/>
            <a:ext cx="3931920" cy="4572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317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06240" y="1261872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1D4ED8"/>
                </a:solidFill>
                <a:latin typeface="Times New Roman"/>
              </a:rPr>
              <a:t>Our backend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06240" y="169164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Times New Roman"/>
              </a:rPr>
              <a:t>Node.js, CPU only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34840" y="1874519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Collect and map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build the live graph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34840" y="2834639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Learn normal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baseline per service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434840" y="3794760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Find the cause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rank root cause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434840" y="4754880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Predict the spread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who is next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869680" y="1188720"/>
            <a:ext cx="2926080" cy="457200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317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69680" y="1261872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F766E"/>
                </a:solidFill>
                <a:latin typeface="Times New Roman"/>
              </a:rPr>
              <a:t>Dashboard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69680" y="169164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Times New Roman"/>
              </a:rPr>
              <a:t>React, 2D and 3D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52560" y="1874519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Live map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52560" y="2834639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Incidents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cause and ranking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052560" y="3794760"/>
            <a:ext cx="25603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Cascade risk</a:t>
            </a:r>
          </a:p>
          <a:p>
            <a:pPr algn="ctr"/>
            <a:r>
              <a:rPr sz="1300" b="0" i="0">
                <a:solidFill>
                  <a:srgbClr val="666666"/>
                </a:solidFill>
                <a:latin typeface="Times New Roman"/>
              </a:rPr>
              <a:t>who is next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474720" y="3474720"/>
            <a:ext cx="731520" cy="0"/>
          </a:xfrm>
          <a:prstGeom prst="line">
            <a:avLst/>
          </a:prstGeom>
          <a:ln w="38100">
            <a:solidFill>
              <a:srgbClr val="B4530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83280" y="3063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B45309"/>
                </a:solidFill>
                <a:latin typeface="Times New Roman"/>
              </a:rPr>
              <a:t>SSH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8138160" y="3108960"/>
            <a:ext cx="731520" cy="0"/>
          </a:xfrm>
          <a:prstGeom prst="line">
            <a:avLst/>
          </a:prstGeom>
          <a:ln w="381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046720" y="27432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Times New Roman"/>
              </a:rPr>
              <a:t>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HOW IT WORKS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502920" y="15544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1  Watch</a:t>
            </a:r>
          </a:p>
          <a:p>
            <a:pPr algn="l"/>
            <a:r>
              <a:rPr sz="1900" b="0" i="0">
                <a:solidFill>
                  <a:srgbClr val="000000"/>
                </a:solidFill>
                <a:latin typeface="Times New Roman"/>
              </a:rPr>
              <a:t>Read CPU, memory, requests, errors and who talks to whom.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200400" y="3337560"/>
            <a:ext cx="182880" cy="0"/>
          </a:xfrm>
          <a:prstGeom prst="line">
            <a:avLst/>
          </a:prstGeom>
          <a:ln w="317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3383280" y="15544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2  Learn normal</a:t>
            </a:r>
          </a:p>
          <a:p>
            <a:pPr algn="l"/>
            <a:r>
              <a:rPr sz="1900" b="0" i="0">
                <a:solidFill>
                  <a:srgbClr val="000000"/>
                </a:solidFill>
                <a:latin typeface="Times New Roman"/>
              </a:rPr>
              <a:t>Keep each service's own recent history as its baseline.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080760" y="3337560"/>
            <a:ext cx="182880" cy="0"/>
          </a:xfrm>
          <a:prstGeom prst="line">
            <a:avLst/>
          </a:prstGeom>
          <a:ln w="317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263640" y="15544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3  Find the cause</a:t>
            </a:r>
          </a:p>
          <a:p>
            <a:pPr algn="l"/>
            <a:r>
              <a:rPr sz="1900" b="0" i="0">
                <a:solidFill>
                  <a:srgbClr val="000000"/>
                </a:solidFill>
                <a:latin typeface="Times New Roman"/>
              </a:rPr>
              <a:t>When several services look bad, follow the calls back to the source.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961120" y="3337560"/>
            <a:ext cx="182880" cy="0"/>
          </a:xfrm>
          <a:prstGeom prst="line">
            <a:avLst/>
          </a:prstGeom>
          <a:ln w="317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9144000" y="1554480"/>
            <a:ext cx="26974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4  Predict</a:t>
            </a:r>
          </a:p>
          <a:p>
            <a:pPr algn="l"/>
            <a:r>
              <a:rPr sz="1900" b="0" i="0">
                <a:solidFill>
                  <a:srgbClr val="000000"/>
                </a:solidFill>
                <a:latin typeface="Times New Roman"/>
              </a:rPr>
              <a:t>Pass the danger along the calls to see who is next.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5394960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  <a:latin typeface="Times New Roman"/>
              </a:rPr>
              <a:t>Everything runs on an ordinary CPU. No training is needed before it starts working.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THE PRODUCT: LIVE MAP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pic>
        <p:nvPicPr>
          <p:cNvPr id="77" name="Picture 76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680960" cy="4320540"/>
          </a:xfrm>
          <a:prstGeom prst="rect">
            <a:avLst/>
          </a:prstGeom>
          <a:ln w="12700">
            <a:solidFill>
              <a:srgbClr val="999999"/>
            </a:solidFill>
          </a:ln>
        </p:spPr>
      </p:pic>
      <p:sp>
        <p:nvSpPr>
          <p:cNvPr id="78" name="TextBox 77"/>
          <p:cNvSpPr txBox="1"/>
          <p:nvPr/>
        </p:nvSpPr>
        <p:spPr>
          <a:xfrm>
            <a:off x="457200" y="557784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Times New Roman"/>
              </a:rPr>
              <a:t>Dashboard on the built-in simulated shop: database crash scenario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1371600"/>
            <a:ext cx="34747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Every service is a block; colour shows health.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Lines are calls; red lines are failing links.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Here the database (orders-db) has stopped, shown in 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THE PRODUCT: FINDING THE CAUSE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pic>
        <p:nvPicPr>
          <p:cNvPr id="77" name="Picture 76" descr="inci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680960" cy="4320540"/>
          </a:xfrm>
          <a:prstGeom prst="rect">
            <a:avLst/>
          </a:prstGeom>
          <a:ln w="12700">
            <a:solidFill>
              <a:srgbClr val="999999"/>
            </a:solidFill>
          </a:ln>
        </p:spPr>
      </p:pic>
      <p:sp>
        <p:nvSpPr>
          <p:cNvPr id="78" name="TextBox 77"/>
          <p:cNvSpPr txBox="1"/>
          <p:nvPr/>
        </p:nvSpPr>
        <p:spPr>
          <a:xfrm>
            <a:off x="457200" y="557784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Times New Roman"/>
              </a:rPr>
              <a:t>Same scenario: the incident page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1371600"/>
            <a:ext cx="34747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It names orders-db as the root cause, with High confidence.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The ranking shows why: orders and frontend are victims.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It even suggests the first command to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THE PRODUCT: WHO IS NEXT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pic>
        <p:nvPicPr>
          <p:cNvPr id="77" name="Picture 76" descr="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680960" cy="4320540"/>
          </a:xfrm>
          <a:prstGeom prst="rect">
            <a:avLst/>
          </a:prstGeom>
          <a:ln w="12700">
            <a:solidFill>
              <a:srgbClr val="999999"/>
            </a:solidFill>
          </a:ln>
        </p:spPr>
      </p:pic>
      <p:sp>
        <p:nvSpPr>
          <p:cNvPr id="78" name="TextBox 77"/>
          <p:cNvSpPr txBox="1"/>
          <p:nvPr/>
        </p:nvSpPr>
        <p:spPr>
          <a:xfrm>
            <a:off x="457200" y="557784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Times New Roman"/>
              </a:rPr>
              <a:t>Same scenario: the cascade page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1371600"/>
            <a:ext cx="34747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Shows how the failure travels and how likely each service is to be hit.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Risk only spreads from something that is really failing.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Probability shown for every service.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THE PRODUCT: DEPENDENCY MAP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pic>
        <p:nvPicPr>
          <p:cNvPr id="77" name="Picture 7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7680960" cy="4320540"/>
          </a:xfrm>
          <a:prstGeom prst="rect">
            <a:avLst/>
          </a:prstGeom>
          <a:ln w="12700">
            <a:solidFill>
              <a:srgbClr val="999999"/>
            </a:solidFill>
          </a:ln>
        </p:spPr>
      </p:pic>
      <p:sp>
        <p:nvSpPr>
          <p:cNvPr id="78" name="TextBox 77"/>
          <p:cNvSpPr txBox="1"/>
          <p:nvPr/>
        </p:nvSpPr>
        <p:spPr>
          <a:xfrm>
            <a:off x="457200" y="557784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Times New Roman"/>
              </a:rPr>
              <a:t>Dependency graph of the simulated shop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1371600"/>
            <a:ext cx="34747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Discovered automatically, nothing declared by hand.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Each link is declared, observed, or both.</a:t>
            </a:r>
          </a:p>
          <a:p>
            <a:pPr marL="285750" indent="-285750">
              <a:spcAft>
                <a:spcPts val="1600"/>
              </a:spcAft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Live CPU and memory on every block.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STEP 1: DETECT A PROBLEM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graphicFrame>
        <p:nvGraphicFramePr>
          <p:cNvPr id="77" name="Chart 76"/>
          <p:cNvGraphicFramePr>
            <a:graphicFrameLocks noGrp="1"/>
          </p:cNvGraphicFramePr>
          <p:nvPr/>
        </p:nvGraphicFramePr>
        <p:xfrm>
          <a:off x="548640" y="128016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772400" y="1371600"/>
            <a:ext cx="402336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Normal: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this service sits around 10% CPU.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Now: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25% then 30%, two readings in a row.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Verdict: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far outside its usual wobble, so raise an alarm.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1900" b="1" i="0">
                <a:solidFill>
                  <a:srgbClr val="000000"/>
                </a:solidFill>
                <a:latin typeface="Times New Roman"/>
              </a:rPr>
              <a:t>Safe: </a:t>
            </a:r>
            <a:r>
              <a:rPr sz="1900" b="0" i="0">
                <a:solidFill>
                  <a:srgbClr val="000000"/>
                </a:solidFill>
                <a:latin typeface="Times New Roman"/>
              </a:rPr>
              <a:t>a missing reading is never treated as zero.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STEP 2: FIND THE ROOT CAUSE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ounded Rectangle 76"/>
          <p:cNvSpPr/>
          <p:nvPr/>
        </p:nvSpPr>
        <p:spPr>
          <a:xfrm>
            <a:off x="822960" y="137160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web</a:t>
            </a:r>
          </a:p>
          <a:p>
            <a:pPr algn="ctr"/>
            <a:r>
              <a:rPr sz="1500" b="0" i="0">
                <a:solidFill>
                  <a:srgbClr val="666666"/>
                </a:solidFill>
                <a:latin typeface="Times New Roman"/>
              </a:rPr>
              <a:t>errors and slow answers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" y="288036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317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payments</a:t>
            </a:r>
          </a:p>
          <a:p>
            <a:pPr algn="ctr"/>
            <a:r>
              <a:rPr sz="1500" b="0" i="0">
                <a:solidFill>
                  <a:srgbClr val="666666"/>
                </a:solidFill>
                <a:latin typeface="Times New Roman"/>
              </a:rPr>
              <a:t>traffic collapsed, very slow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960" y="438912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bank gateway</a:t>
            </a:r>
          </a:p>
          <a:p>
            <a:pPr algn="ctr"/>
            <a:r>
              <a:rPr sz="1500" b="0" i="0">
                <a:solidFill>
                  <a:srgbClr val="666666"/>
                </a:solidFill>
                <a:latin typeface="Times New Roman"/>
              </a:rPr>
              <a:t>normal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743200" y="2377440"/>
            <a:ext cx="0" cy="50292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743200" y="3886200"/>
            <a:ext cx="0" cy="50292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926080" y="246888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Times New Roman"/>
              </a:rPr>
              <a:t>calls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1371600"/>
            <a:ext cx="649224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2200"/>
              </a:spcAft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web looks bad,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but payments, which it calls, explains it. So web is a victim.</a:t>
            </a:r>
          </a:p>
          <a:p>
            <a:pPr marL="285750" indent="-285750">
              <a:spcAft>
                <a:spcPts val="2200"/>
              </a:spcAft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payments looks bad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and nothing it calls explains it. So payments is the root cause.</a:t>
            </a:r>
          </a:p>
          <a:p>
            <a:pPr marL="285750" indent="-285750">
              <a:spcAft>
                <a:spcPts val="2200"/>
              </a:spcAft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A stopped container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always wins, it is a fact, not a guess.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STEP 3: PREDICT THE SPREAD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ounded Rectangle 76"/>
          <p:cNvSpPr/>
          <p:nvPr/>
        </p:nvSpPr>
        <p:spPr>
          <a:xfrm>
            <a:off x="822960" y="13716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web</a:t>
            </a:r>
          </a:p>
          <a:p>
            <a:pPr algn="ctr"/>
            <a:r>
              <a:rPr sz="1600" b="0" i="0">
                <a:solidFill>
                  <a:srgbClr val="666666"/>
                </a:solidFill>
                <a:latin typeface="Times New Roman"/>
              </a:rPr>
              <a:t>chance of failing 46%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" y="288036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orders</a:t>
            </a:r>
          </a:p>
          <a:p>
            <a:pPr algn="ctr"/>
            <a:r>
              <a:rPr sz="1600" b="0" i="0">
                <a:solidFill>
                  <a:srgbClr val="666666"/>
                </a:solidFill>
                <a:latin typeface="Times New Roman"/>
              </a:rPr>
              <a:t>chance of failing 82%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2960" y="43891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317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 i="0">
                <a:solidFill>
                  <a:srgbClr val="000000"/>
                </a:solidFill>
                <a:latin typeface="Times New Roman"/>
              </a:rPr>
              <a:t>database</a:t>
            </a:r>
          </a:p>
          <a:p>
            <a:pPr algn="ctr"/>
            <a:r>
              <a:rPr sz="1600" b="0" i="0">
                <a:solidFill>
                  <a:srgbClr val="666666"/>
                </a:solidFill>
                <a:latin typeface="Times New Roman"/>
              </a:rPr>
              <a:t>stopped: 100%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651760" y="2377440"/>
            <a:ext cx="0" cy="50292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651760" y="3886200"/>
            <a:ext cx="0" cy="50292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834640" y="246888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Times New Roman"/>
              </a:rPr>
              <a:t>strong link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34640" y="3977639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Times New Roman"/>
              </a:rPr>
              <a:t>very strong link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0" y="1371600"/>
            <a:ext cx="685800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400"/>
              </a:spcAft>
              <a:buChar char="•"/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Start: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stopped = 100%, slow or failing = 50%, healthy = 0%.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Pass on: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70% of a failure reaches the caller, scaled by how much it depends on it.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Result: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a ranked list of services at risk, and a "what if this one fails" view.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000" b="1" i="0">
                <a:solidFill>
                  <a:srgbClr val="000000"/>
                </a:solidFill>
                <a:latin typeface="Times New Roman"/>
              </a:rPr>
              <a:t>Honest: </a:t>
            </a:r>
            <a:r>
              <a:rPr sz="2000" b="0" i="0">
                <a:solidFill>
                  <a:srgbClr val="000000"/>
                </a:solidFill>
                <a:latin typeface="Times New Roman"/>
              </a:rPr>
              <a:t>this is a model with a stated assumption, not a measured number.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DID MACHINE LEARNING HELP?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822960" y="1371600"/>
            <a:ext cx="512064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The idea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Give a model the same signals and let it learn the weights from labelled faults.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1371600"/>
            <a:ext cx="512064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The test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Train on the past, test on the future. Also train on one system and test on the other.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" y="3611880"/>
            <a:ext cx="512064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The result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It found only 50% of the faults. The rules found 97%.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3611880"/>
            <a:ext cx="5120640" cy="20116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The decision</a:t>
            </a:r>
          </a:p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Keep the simple, explainable rules. Retest when there is much more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HOW WE TESTED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640080" y="1371600"/>
            <a:ext cx="347472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1F2D5C"/>
                </a:solidFill>
                <a:latin typeface="Times New Roman"/>
              </a:rPr>
              <a:t>8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Stopped container faults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34840" y="1371600"/>
            <a:ext cx="347472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1F2D5C"/>
                </a:solidFill>
                <a:latin typeface="Times New Roman"/>
              </a:rPr>
              <a:t>10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Crash faults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1371600"/>
            <a:ext cx="347472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1F2D5C"/>
                </a:solidFill>
                <a:latin typeface="Times New Roman"/>
              </a:rPr>
              <a:t>2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Crash loop faults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" y="3154680"/>
            <a:ext cx="347472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1F2D5C"/>
                </a:solidFill>
                <a:latin typeface="Times New Roman"/>
              </a:rPr>
              <a:t>6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Memory pressure faults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34840" y="3154680"/>
            <a:ext cx="347472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1F2D5C"/>
                </a:solidFill>
                <a:latin typeface="Times New Roman"/>
              </a:rPr>
              <a:t>6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CPU brownout faults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3154680"/>
            <a:ext cx="3474720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1F2D5C"/>
                </a:solidFill>
                <a:latin typeface="Times New Roman"/>
              </a:rPr>
              <a:t>2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Paused faults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502920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6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Two systems: ShopFlow (13 services) and LedgerLine (12 services) on AWS EC2.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217 minutes recorded; 34 faults in six kinds.</a:t>
            </a:r>
          </a:p>
          <a:p>
            <a:pPr marL="285750" indent="-285750">
              <a:spcAft>
                <a:spcPts val="600"/>
              </a:spcAft>
              <a:buChar char="•"/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Scores come from comparing the mapper's output with the answer key.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RESULT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731520" y="1371600"/>
          <a:ext cx="1069848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0480"/>
                <a:gridCol w="2103120"/>
                <a:gridCol w="2651760"/>
                <a:gridCol w="210312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/>
                        </a:rPr>
                        <a:t>Faults detected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/>
                        </a:rPr>
                        <a:t>Right service first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 i="0">
                          <a:solidFill>
                            <a:srgbClr val="FFFFFF"/>
                          </a:solidFill>
                          <a:latin typeface="Times New Roman"/>
                        </a:rPr>
                        <a:t>False alarms / hour</a:t>
                      </a:r>
                    </a:p>
                  </a:txBody>
                  <a:tcPr marL="64008" marR="64008" marT="27432" marB="27432" anchor="ctr">
                    <a:solidFill>
                      <a:srgbClr val="00000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000000"/>
                          </a:solidFill>
                          <a:latin typeface="Times New Roman"/>
                        </a:rPr>
                        <a:t>Live mapper (rules)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97%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58%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000000"/>
                          </a:solidFill>
                          <a:latin typeface="Times New Roman"/>
                        </a:rPr>
                        <a:t>Rules, fixed threshold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97%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55%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8.9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000000"/>
                          </a:solidFill>
                          <a:latin typeface="Times New Roman"/>
                        </a:rPr>
                        <a:t>Rules, tuned threshold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82%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46%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4.4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000000"/>
                          </a:solidFill>
                          <a:latin typeface="Times New Roman"/>
                        </a:rPr>
                        <a:t>Learned model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50%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53%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000000"/>
                          </a:solidFill>
                          <a:latin typeface="Times New Roman"/>
                        </a:rPr>
                        <a:t>3.0</a:t>
                      </a:r>
                    </a:p>
                  </a:txBody>
                  <a:tcPr marL="64008" marR="64008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Times New Roman"/>
              </a:rPr>
              <a:t>Right service first is measured among the faults that were detected. Only 34 faults, so small differences are noise.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PERFORMANCE COMPARISON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graphicFrame>
        <p:nvGraphicFramePr>
          <p:cNvPr id="77" name="Chart 76"/>
          <p:cNvGraphicFramePr>
            <a:graphicFrameLocks noGrp="1"/>
          </p:cNvGraphicFramePr>
          <p:nvPr/>
        </p:nvGraphicFramePr>
        <p:xfrm>
          <a:off x="548640" y="1280160"/>
          <a:ext cx="66751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8" name="Chart 77"/>
          <p:cNvGraphicFramePr>
            <a:graphicFrameLocks noGrp="1"/>
          </p:cNvGraphicFramePr>
          <p:nvPr/>
        </p:nvGraphicFramePr>
        <p:xfrm>
          <a:off x="7406640" y="1280160"/>
          <a:ext cx="438912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KEY FINDINGS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Rectangle 76"/>
          <p:cNvSpPr/>
          <p:nvPr/>
        </p:nvSpPr>
        <p:spPr>
          <a:xfrm>
            <a:off x="731520" y="1371600"/>
            <a:ext cx="338328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 i="0">
                <a:solidFill>
                  <a:srgbClr val="1F2D5C"/>
                </a:solidFill>
                <a:latin typeface="Times New Roman"/>
              </a:rPr>
              <a:t>97%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of faults detected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9120" y="1371600"/>
            <a:ext cx="338328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 i="0">
                <a:solidFill>
                  <a:srgbClr val="1F2D5C"/>
                </a:solidFill>
                <a:latin typeface="Times New Roman"/>
              </a:rPr>
              <a:t>58%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named the right service first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46720" y="1371600"/>
            <a:ext cx="338328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 i="0">
                <a:solidFill>
                  <a:srgbClr val="1F2D5C"/>
                </a:solidFill>
                <a:latin typeface="Times New Roman"/>
              </a:rPr>
              <a:t>5.9 / h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Times New Roman"/>
              </a:rPr>
              <a:t>false alarms per hour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93192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1200"/>
              </a:spcAft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Decision: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the learned model found only 50% of faults, so the rules stay.</a:t>
            </a:r>
          </a:p>
          <a:p>
            <a:pPr marL="285750" indent="-285750">
              <a:spcAft>
                <a:spcPts val="1200"/>
              </a:spcAft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Limit: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34 faults is a small sample.</a:t>
            </a:r>
          </a:p>
          <a:p>
            <a:pPr marL="285750" indent="-285750">
              <a:spcAft>
                <a:spcPts val="1200"/>
              </a:spcAft>
              <a:buChar char="•"/>
            </a:pPr>
            <a:r>
              <a:rPr sz="2200" b="1" i="0">
                <a:solidFill>
                  <a:srgbClr val="000000"/>
                </a:solidFill>
                <a:latin typeface="Times New Roman"/>
              </a:rPr>
              <a:t>Cascade: </a:t>
            </a:r>
            <a:r>
              <a:rPr sz="2200" b="0" i="0">
                <a:solidFill>
                  <a:srgbClr val="000000"/>
                </a:solidFill>
                <a:latin typeface="Times New Roman"/>
              </a:rPr>
              <a:t>the probabilities are a model, not measured.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CONCLUSION AND FUTURE WORK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TextBox 76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285750" indent="-285750">
              <a:spcAft>
                <a:spcPts val="24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Conclusion: 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an agentless tool that learns normal per service, ranks the root cause and forecasts the spread.</a:t>
            </a:r>
          </a:p>
          <a:p>
            <a:pPr marL="285750" indent="-285750">
              <a:spcAft>
                <a:spcPts val="24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Evidence: 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97% of 34 faults detected; right service first in 58% of those.</a:t>
            </a:r>
          </a:p>
          <a:p>
            <a:pPr marL="285750" indent="-285750">
              <a:spcAft>
                <a:spcPts val="2400"/>
              </a:spcAft>
              <a:buChar char="•"/>
            </a:pPr>
            <a:r>
              <a:rPr sz="2400" b="1" i="0">
                <a:solidFill>
                  <a:srgbClr val="000000"/>
                </a:solidFill>
                <a:latin typeface="Times New Roman"/>
              </a:rPr>
              <a:t>Future work: </a:t>
            </a:r>
            <a:r>
              <a:rPr sz="2400" b="0" i="0">
                <a:solidFill>
                  <a:srgbClr val="000000"/>
                </a:solidFill>
                <a:latin typeface="Times New Roman"/>
              </a:rPr>
              <a:t>more labelled faults, calibrate the cascade, support Kubernetes.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21" y="300512"/>
            <a:ext cx="11151223" cy="813505"/>
          </a:xfrm>
        </p:spPr>
        <p:txBody>
          <a:bodyPr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REFERENCE</a:t>
            </a:r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5486400" y="6339480"/>
            <a:ext cx="1445259" cy="218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06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pc="-10"/>
              <a:t>    Dept</a:t>
            </a:r>
            <a:r>
              <a:rPr lang="en-IN" spc="-50"/>
              <a:t> </a:t>
            </a:r>
            <a:r>
              <a:rPr lang="en-IN" spc="-30">
                <a:solidFill>
                  <a:srgbClr val="7E7E7E"/>
                </a:solidFill>
              </a:rPr>
              <a:t>of</a:t>
            </a:r>
            <a:r>
              <a:rPr lang="en-IN" spc="-20">
                <a:solidFill>
                  <a:srgbClr val="7E7E7E"/>
                </a:solidFill>
              </a:rPr>
              <a:t> </a:t>
            </a:r>
            <a:r>
              <a:rPr lang="en-IN" spc="-85"/>
              <a:t>AIML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dt" idx="10"/>
          </p:nvPr>
        </p:nvSpPr>
        <p:spPr>
          <a:xfrm>
            <a:off x="1132803" y="6333334"/>
            <a:ext cx="869400" cy="2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13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14-10-2026</a:t>
            </a:r>
            <a:endParaRPr spc="-20" dirty="0"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703277" y="6368138"/>
            <a:ext cx="2444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pc="-25"/>
              <a:t>3</a:t>
            </a:fld>
            <a:endParaRPr spc="-25"/>
          </a:p>
        </p:txBody>
      </p:sp>
      <p:sp>
        <p:nvSpPr>
          <p:cNvPr id="77" name="TextBox 76"/>
          <p:cNvSpPr txBox="1"/>
          <p:nvPr/>
        </p:nvSpPr>
        <p:spPr>
          <a:xfrm>
            <a:off x="731520" y="128016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[1] L. Wu, J. Tordsson, E. Elmroth, O. Kao. MicroRCA: Root Cause Localization of Performance Issues in Microservices. IEEE/IFIP NOMS, 2020.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[2] P. Wang, J. Xu, M. Ma, et al. CloudRanger: Root Cause Identification for Cloud Native Systems. IEEE/ACM CCGrid, 2018.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[3] J. Lin, P. Chen, Z. Zheng. Microscope: Pinpoint Performance Issues with Causal Graphs in Micro-service Environments. ICSOC, 2018.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[4] Y. Gan, M. Liang, S. Dev, D. Lo, C. Delimitrou. Sage: Practical and Scalable ML-Driven Performance Debugging in Microservices. ASPLOS, 2021.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[5] A. Ikram, S. Chakraborty, S. Mitra, S. Saini, S. Bagchi, M. Kocaoglu. Root Cause Analysis of Failures in Microservices through Causal Discovery. NeurIPS,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693</Words>
  <Application>Microsoft Office PowerPoint</Application>
  <PresentationFormat>Widescreen</PresentationFormat>
  <Paragraphs>68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SUMMARY &amp; OVERVIEW</vt:lpstr>
      <vt:lpstr>ABSTRACT</vt:lpstr>
      <vt:lpstr>INTRODUCTION</vt:lpstr>
      <vt:lpstr>PROBLEM STATEMENT</vt:lpstr>
      <vt:lpstr>OBJECTIVES</vt:lpstr>
      <vt:lpstr>RESEARCH GAP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</cp:revision>
  <dcterms:created xsi:type="dcterms:W3CDTF">2026-10-13T21:45:50Z</dcterms:created>
  <dcterms:modified xsi:type="dcterms:W3CDTF">2026-10-13T21:58:28Z</dcterms:modified>
</cp:coreProperties>
</file>