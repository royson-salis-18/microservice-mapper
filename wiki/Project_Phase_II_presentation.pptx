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7" r:id="rId2"/>
    <p:sldId id="258" r:id="rId8"/>
    <p:sldId id="259" r:id="rId9"/>
    <p:sldId id="260" r:id="rId7"/>
    <p:sldId id="261" r:id="rId6"/>
    <p:sldId id="262" r:id="rId5"/>
    <p:sldId id="263" r:id="rId4"/>
    <p:sldId id="264" r:id="rId3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600"/>
              <a:t>CPU of one service, 40 readings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CPU %</c:v>
                </c:pt>
              </c:strCache>
            </c:strRef>
          </c:tx>
          <c:spPr>
            <a:ln w="28575">
              <a:solidFill>
                <a:srgbClr val="1F2D5C"/>
              </a:solidFill>
            </a:ln>
          </c:spPr>
          <c:marker>
            <c:symbol val="none"/>
          </c:marker>
          <c:cat>
            <c:strRef>
              <c:f>Sheet1!$A$2:$A$41</c:f>
              <c:strCache>
                <c:ptCount val="4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</c:strCache>
            </c: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10.6</c:v>
                </c:pt>
                <c:pt idx="1">
                  <c:v>10.7</c:v>
                </c:pt>
                <c:pt idx="2">
                  <c:v>10.0</c:v>
                </c:pt>
                <c:pt idx="3">
                  <c:v>9.6</c:v>
                </c:pt>
                <c:pt idx="4">
                  <c:v>9.5</c:v>
                </c:pt>
                <c:pt idx="5">
                  <c:v>10.0</c:v>
                </c:pt>
                <c:pt idx="6">
                  <c:v>9.5</c:v>
                </c:pt>
                <c:pt idx="7">
                  <c:v>9.3</c:v>
                </c:pt>
                <c:pt idx="8">
                  <c:v>10.1</c:v>
                </c:pt>
                <c:pt idx="9">
                  <c:v>10.1</c:v>
                </c:pt>
                <c:pt idx="10">
                  <c:v>10.3</c:v>
                </c:pt>
                <c:pt idx="11">
                  <c:v>9.5</c:v>
                </c:pt>
                <c:pt idx="12">
                  <c:v>10.0</c:v>
                </c:pt>
                <c:pt idx="13">
                  <c:v>10.0</c:v>
                </c:pt>
                <c:pt idx="14">
                  <c:v>9.2</c:v>
                </c:pt>
                <c:pt idx="15">
                  <c:v>10.3</c:v>
                </c:pt>
                <c:pt idx="16">
                  <c:v>10.2</c:v>
                </c:pt>
                <c:pt idx="17">
                  <c:v>11.2</c:v>
                </c:pt>
                <c:pt idx="18">
                  <c:v>10.1</c:v>
                </c:pt>
                <c:pt idx="19">
                  <c:v>9.9</c:v>
                </c:pt>
                <c:pt idx="20">
                  <c:v>10.6</c:v>
                </c:pt>
                <c:pt idx="21">
                  <c:v>10.1</c:v>
                </c:pt>
                <c:pt idx="22">
                  <c:v>10.5</c:v>
                </c:pt>
                <c:pt idx="23">
                  <c:v>9.8</c:v>
                </c:pt>
                <c:pt idx="24">
                  <c:v>10.1</c:v>
                </c:pt>
                <c:pt idx="25">
                  <c:v>10.5</c:v>
                </c:pt>
                <c:pt idx="26">
                  <c:v>10.3</c:v>
                </c:pt>
                <c:pt idx="27">
                  <c:v>10.1</c:v>
                </c:pt>
                <c:pt idx="28">
                  <c:v>9.5</c:v>
                </c:pt>
                <c:pt idx="29">
                  <c:v>10.2</c:v>
                </c:pt>
                <c:pt idx="30">
                  <c:v>10.0</c:v>
                </c:pt>
                <c:pt idx="31">
                  <c:v>10.4</c:v>
                </c:pt>
                <c:pt idx="32">
                  <c:v>10.1</c:v>
                </c:pt>
                <c:pt idx="33">
                  <c:v>10.5</c:v>
                </c:pt>
                <c:pt idx="34">
                  <c:v>10.0</c:v>
                </c:pt>
                <c:pt idx="35">
                  <c:v>10.1</c:v>
                </c:pt>
                <c:pt idx="36">
                  <c:v>10.3</c:v>
                </c:pt>
                <c:pt idx="37">
                  <c:v>9.5</c:v>
                </c:pt>
                <c:pt idx="38">
                  <c:v>25.0</c:v>
                </c:pt>
                <c:pt idx="39">
                  <c:v>30.0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Faults detected (%)</c:v>
                </c:pt>
              </c:strCache>
            </c:strRef>
          </c:tx>
          <c:spPr>
            <a:solidFill>
              <a:srgbClr val="1F2D5C"/>
            </a:solidFill>
          </c:spPr>
          <c:cat>
            <c:strRef>
              <c:f>Sheet1!$A$2:$A$5</c:f>
              <c:strCache>
                <c:ptCount val="4"/>
                <c:pt idx="0">
                  <c:v>Live mapper</c:v>
                </c:pt>
                <c:pt idx="1">
                  <c:v>Rules fixed</c:v>
                </c:pt>
                <c:pt idx="2">
                  <c:v>Rules tuned</c:v>
                </c:pt>
                <c:pt idx="3">
                  <c:v>Learned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97</c:v>
                </c:pt>
                <c:pt idx="1">
                  <c:v>97</c:v>
                </c:pt>
                <c:pt idx="2">
                  <c:v>82</c:v>
                </c:pt>
                <c:pt idx="3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Right service first (%)</c:v>
                </c:pt>
              </c:strCache>
            </c:strRef>
          </c:tx>
          <c:spPr>
            <a:solidFill>
              <a:srgbClr val="9CA3AF"/>
            </a:solidFill>
          </c:spPr>
          <c:cat>
            <c:strRef>
              <c:f>Sheet1!$A$2:$A$5</c:f>
              <c:strCache>
                <c:ptCount val="4"/>
                <c:pt idx="0">
                  <c:v>Live mapper</c:v>
                </c:pt>
                <c:pt idx="1">
                  <c:v>Rules fixed</c:v>
                </c:pt>
                <c:pt idx="2">
                  <c:v>Rules tuned</c:v>
                </c:pt>
                <c:pt idx="3">
                  <c:v>Learned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58</c:v>
                </c:pt>
                <c:pt idx="1">
                  <c:v>55</c:v>
                </c:pt>
                <c:pt idx="2">
                  <c:v>46</c:v>
                </c:pt>
                <c:pt idx="3">
                  <c:v>53</c:v>
                </c:pt>
              </c:numCache>
            </c:numRef>
          </c:val>
        </c:ser>
        <c:dLbls>
          <c:txPr>
            <a:bodyPr/>
            <a:lstStyle/>
            <a:p>
              <a:pPr>
                <a:defRPr sz="14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False alarms per hour</c:v>
                </c:pt>
              </c:strCache>
            </c:strRef>
          </c:tx>
          <c:spPr>
            <a:solidFill>
              <a:srgbClr val="B45309"/>
            </a:solidFill>
          </c:spPr>
          <c:cat>
            <c:strRef>
              <c:f>Sheet1!$A$2:$A$5</c:f>
              <c:strCache>
                <c:ptCount val="4"/>
                <c:pt idx="0">
                  <c:v>Live</c:v>
                </c:pt>
                <c:pt idx="1">
                  <c:v>Fixed</c:v>
                </c:pt>
                <c:pt idx="2">
                  <c:v>Tuned</c:v>
                </c:pt>
                <c:pt idx="3">
                  <c:v>Learned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5.9</c:v>
                </c:pt>
                <c:pt idx="1">
                  <c:v>8.9</c:v>
                </c:pt>
                <c:pt idx="2">
                  <c:v>4.4</c:v>
                </c:pt>
                <c:pt idx="3">
                  <c:v>3.0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4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210A43-2EB0-4675-B82C-8AC370247493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802659-CF14-48A8-8A56-882470F284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790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00918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it is, what it does, how we tested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this problem is hard for operators.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failure travels along the call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Classic and recent root-cause work for distributed services.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Learning-based and graph-based approaches, and surveys.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existing tools do not already solve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parts, each one answers a gap on the previous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of the work: size, testing and documentation.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Who talks to whom: the target host, our backend, the dashboard and the optional ML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one reading travels through the layers, and where it is stored.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each part of the repository does and what it is built with.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Spatial view of the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Incidents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Cascade risk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a service with itself. Two readings in a row, so one odd number does not trigger an alarm.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Failures travel against the calls, so a service explained by a broken service it calls is a victim.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service passes on most of the danger it sees from the services it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tried a learned model against our hand-built rules and tested it fairly.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fault injector breaks services on purpose and keeps a private answer key. The mapper never sees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held-out test data for every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Higher is better for detection and naming; lower is better for false alarms.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numbers and one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149DE-B617-4B4C-9191-69216CB37188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C700D-733F-4668-99FB-35FDD541F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84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149DE-B617-4B4C-9191-69216CB37188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C700D-733F-4668-99FB-35FDD541F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0589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149DE-B617-4B4C-9191-69216CB37188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C700D-733F-4668-99FB-35FDD541F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587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149DE-B617-4B4C-9191-69216CB37188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C700D-733F-4668-99FB-35FDD541F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385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149DE-B617-4B4C-9191-69216CB37188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C700D-733F-4668-99FB-35FDD541F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3266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149DE-B617-4B4C-9191-69216CB37188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C700D-733F-4668-99FB-35FDD541F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1625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149DE-B617-4B4C-9191-69216CB37188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C700D-733F-4668-99FB-35FDD541F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9405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149DE-B617-4B4C-9191-69216CB37188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C700D-733F-4668-99FB-35FDD541F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9111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149DE-B617-4B4C-9191-69216CB37188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C700D-733F-4668-99FB-35FDD541F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798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149DE-B617-4B4C-9191-69216CB37188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C700D-733F-4668-99FB-35FDD541F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8390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149DE-B617-4B4C-9191-69216CB37188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C700D-733F-4668-99FB-35FDD541F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121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obj">
  <p:cSld name="1_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ftr" idx="11"/>
          </p:nvPr>
        </p:nvSpPr>
        <p:spPr>
          <a:xfrm>
            <a:off x="6048383" y="6321483"/>
            <a:ext cx="1445259" cy="230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50" b="0" i="0">
                <a:solidFill>
                  <a:srgbClr val="7C7C7C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314" cy="2241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>
                <a:solidFill>
                  <a:srgbClr val="7B7B7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12700" lvl="0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12700" lvl="1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700" lvl="2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2700" lvl="3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2700" lvl="4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12700" lvl="5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12700" lvl="6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12700" lvl="7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12700" lvl="8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7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375005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1_Title and Conten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520388" y="688269"/>
            <a:ext cx="11151223" cy="813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300" b="0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body" idx="1"/>
          </p:nvPr>
        </p:nvSpPr>
        <p:spPr>
          <a:xfrm>
            <a:off x="523153" y="1618544"/>
            <a:ext cx="11129645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50" b="0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ftr" idx="11"/>
          </p:nvPr>
        </p:nvSpPr>
        <p:spPr>
          <a:xfrm>
            <a:off x="6048383" y="6321483"/>
            <a:ext cx="1445259" cy="230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50" b="0" i="0">
                <a:solidFill>
                  <a:srgbClr val="7C7C7C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314" cy="2241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>
                <a:solidFill>
                  <a:srgbClr val="7B7B7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12700" lvl="0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12700" lvl="1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700" lvl="2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2700" lvl="3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2700" lvl="4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12700" lvl="5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12700" lvl="6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12700" lvl="7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12700" lvl="8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7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7645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1_Title Slide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ctrTitle"/>
          </p:nvPr>
        </p:nvSpPr>
        <p:spPr>
          <a:xfrm>
            <a:off x="3644277" y="688269"/>
            <a:ext cx="4846320" cy="5295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300" b="0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ubTitle" idx="1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50" b="0" i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ftr" idx="11"/>
          </p:nvPr>
        </p:nvSpPr>
        <p:spPr>
          <a:xfrm>
            <a:off x="6048383" y="6321483"/>
            <a:ext cx="1445259" cy="230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50" b="0" i="0">
                <a:solidFill>
                  <a:srgbClr val="7C7C7C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314" cy="2241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>
                <a:solidFill>
                  <a:srgbClr val="7B7B7B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12700" lvl="0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12700" lvl="1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700" lvl="2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2700" lvl="3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2700" lvl="4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12700" lvl="5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12700" lvl="6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12700" lvl="7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12700" lvl="8" indent="0">
              <a:lnSpc>
                <a:spcPct val="118518"/>
              </a:lnSpc>
              <a:spcBef>
                <a:spcPts val="0"/>
              </a:spcBef>
              <a:buNone/>
              <a:defRPr sz="1350" b="0" i="0" spc="-25">
                <a:solidFill>
                  <a:srgbClr val="545454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270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074607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2149DE-B617-4B4C-9191-69216CB37188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0C700D-733F-4668-99FB-35FDD541F9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0257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5284485" y="628923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49" name="Google Shape;49;p7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1</a:t>
            </a:fld>
            <a:endParaRPr spc="-25"/>
          </a:p>
        </p:txBody>
      </p:sp>
      <p:sp>
        <p:nvSpPr>
          <p:cNvPr id="50" name="Google Shape;50;p7"/>
          <p:cNvSpPr txBox="1"/>
          <p:nvPr/>
        </p:nvSpPr>
        <p:spPr>
          <a:xfrm>
            <a:off x="1613825" y="66500"/>
            <a:ext cx="10504500" cy="147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12700" lvl="0" indent="0" algn="l" rtl="0">
              <a:lnSpc>
                <a:spcPct val="11843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550" spc="140">
                <a:solidFill>
                  <a:srgbClr val="F9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MANGALORE</a:t>
            </a:r>
            <a:r>
              <a:rPr lang="en-IN" sz="2550" spc="295">
                <a:solidFill>
                  <a:srgbClr val="F9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2550" spc="114">
                <a:solidFill>
                  <a:srgbClr val="FB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INSTITUTE</a:t>
            </a:r>
            <a:r>
              <a:rPr lang="en-IN" sz="2550">
                <a:solidFill>
                  <a:srgbClr val="FB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2550" spc="140">
                <a:solidFill>
                  <a:srgbClr val="F9000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OF</a:t>
            </a:r>
            <a:r>
              <a:rPr lang="en-IN" sz="2550" spc="165">
                <a:solidFill>
                  <a:srgbClr val="F9000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2550" spc="140">
                <a:solidFill>
                  <a:srgbClr val="FB07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TECHNOLOGY</a:t>
            </a:r>
            <a:r>
              <a:rPr lang="en-IN" sz="2550">
                <a:solidFill>
                  <a:srgbClr val="FB07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&amp;</a:t>
            </a:r>
            <a:r>
              <a:rPr lang="en-IN" sz="2550" spc="125">
                <a:solidFill>
                  <a:srgbClr val="FB03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ENGINEERING</a:t>
            </a:r>
            <a:endParaRPr sz="255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484755" lvl="0" indent="0" algn="l" rtl="0">
              <a:lnSpc>
                <a:spcPct val="1168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900">
                <a:solidFill>
                  <a:srgbClr val="001F5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(A</a:t>
            </a:r>
            <a:r>
              <a:rPr lang="en-IN" sz="1900" spc="215">
                <a:solidFill>
                  <a:srgbClr val="001F5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>
                <a:solidFill>
                  <a:srgbClr val="00216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Unit</a:t>
            </a:r>
            <a:r>
              <a:rPr lang="en-IN" sz="1900" spc="204">
                <a:solidFill>
                  <a:srgbClr val="00216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>
                <a:solidFill>
                  <a:srgbClr val="00215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of</a:t>
            </a:r>
            <a:r>
              <a:rPr lang="en-IN" sz="1900" spc="120">
                <a:solidFill>
                  <a:srgbClr val="00215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>
                <a:solidFill>
                  <a:srgbClr val="00216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Rajalaxmi</a:t>
            </a:r>
            <a:r>
              <a:rPr lang="en-IN" sz="1900" spc="204">
                <a:solidFill>
                  <a:srgbClr val="00216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>
                <a:solidFill>
                  <a:srgbClr val="0318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Education</a:t>
            </a:r>
            <a:r>
              <a:rPr lang="en-IN" sz="1900" spc="315">
                <a:solidFill>
                  <a:srgbClr val="0318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>
                <a:solidFill>
                  <a:srgbClr val="08216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Trust</a:t>
            </a:r>
            <a:r>
              <a:rPr lang="en-IN" sz="1900">
                <a:solidFill>
                  <a:srgbClr val="051F5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O,</a:t>
            </a:r>
            <a:r>
              <a:rPr lang="en-IN" sz="1900" spc="95">
                <a:solidFill>
                  <a:srgbClr val="051F5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 spc="-10">
                <a:solidFill>
                  <a:srgbClr val="001F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Mangalore)</a:t>
            </a:r>
            <a:endParaRPr sz="19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743075" marR="562610" lvl="0" indent="-711200" algn="l" rtl="0">
              <a:lnSpc>
                <a:spcPct val="118421"/>
              </a:lnSpc>
              <a:spcBef>
                <a:spcPts val="85"/>
              </a:spcBef>
              <a:spcAft>
                <a:spcPts val="0"/>
              </a:spcAft>
              <a:buNone/>
            </a:pPr>
            <a:r>
              <a:rPr lang="en-IN" sz="1900">
                <a:solidFill>
                  <a:srgbClr val="011C5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Autonomous</a:t>
            </a:r>
            <a:r>
              <a:rPr lang="en-IN" sz="1900" spc="200">
                <a:solidFill>
                  <a:srgbClr val="011C5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>
                <a:solidFill>
                  <a:srgbClr val="05216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Institute</a:t>
            </a:r>
            <a:r>
              <a:rPr lang="en-IN" sz="1900" spc="170">
                <a:solidFill>
                  <a:srgbClr val="05216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>
                <a:solidFill>
                  <a:srgbClr val="011F6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affiEated</a:t>
            </a:r>
            <a:r>
              <a:rPr lang="en-IN" sz="1900" spc="155">
                <a:solidFill>
                  <a:srgbClr val="011F6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>
                <a:solidFill>
                  <a:srgbClr val="011C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to </a:t>
            </a:r>
            <a:r>
              <a:rPr lang="en-IN" sz="1900" spc="-55">
                <a:solidFill>
                  <a:srgbClr val="05246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V.T.U.,</a:t>
            </a:r>
            <a:r>
              <a:rPr lang="en-IN" sz="1900" spc="60">
                <a:solidFill>
                  <a:srgbClr val="05246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>
                <a:solidFill>
                  <a:srgbClr val="0321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Belagavi,</a:t>
            </a:r>
            <a:r>
              <a:rPr lang="en-IN" sz="1900" spc="180">
                <a:solidFill>
                  <a:srgbClr val="0321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>
                <a:solidFill>
                  <a:srgbClr val="001D5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Approved</a:t>
            </a:r>
            <a:r>
              <a:rPr lang="en-IN" sz="1900" spc="320">
                <a:solidFill>
                  <a:srgbClr val="001D5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>
                <a:solidFill>
                  <a:srgbClr val="001F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by</a:t>
            </a:r>
            <a:r>
              <a:rPr lang="en-IN" sz="1900" spc="70">
                <a:solidFill>
                  <a:srgbClr val="001F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>
                <a:solidFill>
                  <a:srgbClr val="03215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AICTE,</a:t>
            </a:r>
            <a:r>
              <a:rPr lang="en-IN" sz="1900" spc="165">
                <a:solidFill>
                  <a:srgbClr val="03215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 spc="-30">
                <a:solidFill>
                  <a:srgbClr val="001C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New</a:t>
            </a:r>
            <a:r>
              <a:rPr lang="en-IN" sz="1900" spc="150">
                <a:solidFill>
                  <a:srgbClr val="001C59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 spc="-10">
                <a:solidFill>
                  <a:srgbClr val="031C5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Delhi. </a:t>
            </a:r>
            <a:r>
              <a:rPr lang="en-IN" sz="1900">
                <a:solidFill>
                  <a:srgbClr val="001F5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Accredited</a:t>
            </a:r>
            <a:r>
              <a:rPr lang="en-IN" sz="1900" spc="265">
                <a:solidFill>
                  <a:srgbClr val="001F5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>
                <a:solidFill>
                  <a:srgbClr val="011F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by</a:t>
            </a:r>
            <a:r>
              <a:rPr lang="en-IN" sz="1900" spc="65">
                <a:solidFill>
                  <a:srgbClr val="011F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 spc="-10">
                <a:solidFill>
                  <a:srgbClr val="031F5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NAAC</a:t>
            </a:r>
            <a:r>
              <a:rPr lang="en-IN" sz="1900" spc="135">
                <a:solidFill>
                  <a:srgbClr val="031F5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>
                <a:solidFill>
                  <a:srgbClr val="0023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with</a:t>
            </a:r>
            <a:r>
              <a:rPr lang="en-IN" sz="1900" spc="55">
                <a:solidFill>
                  <a:srgbClr val="0023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>
                <a:solidFill>
                  <a:srgbClr val="0021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A+</a:t>
            </a:r>
            <a:r>
              <a:rPr lang="en-IN" sz="1900" spc="85">
                <a:solidFill>
                  <a:srgbClr val="0021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 spc="55">
                <a:solidFill>
                  <a:srgbClr val="00215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Grade,</a:t>
            </a:r>
            <a:r>
              <a:rPr lang="en-IN" sz="1900" spc="10">
                <a:solidFill>
                  <a:srgbClr val="00215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>
                <a:solidFill>
                  <a:srgbClr val="001F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</a:t>
            </a:r>
            <a:r>
              <a:rPr lang="en-IN" sz="1900" spc="75">
                <a:solidFill>
                  <a:srgbClr val="001F6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>
                <a:solidFill>
                  <a:srgbClr val="001F5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ISO</a:t>
            </a:r>
            <a:r>
              <a:rPr lang="en-IN" sz="1900" spc="-5">
                <a:solidFill>
                  <a:srgbClr val="001F5E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>
                <a:solidFill>
                  <a:srgbClr val="05185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9001:</a:t>
            </a:r>
            <a:r>
              <a:rPr lang="en-IN" sz="1900" spc="100">
                <a:solidFill>
                  <a:srgbClr val="05185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 spc="-10">
                <a:solidFill>
                  <a:srgbClr val="00235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2015</a:t>
            </a:r>
            <a:r>
              <a:rPr lang="en-IN" sz="1900" spc="15">
                <a:solidFill>
                  <a:srgbClr val="00235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>
                <a:solidFill>
                  <a:srgbClr val="001F5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Certified</a:t>
            </a:r>
            <a:r>
              <a:rPr lang="en-IN" sz="1900" spc="90">
                <a:solidFill>
                  <a:srgbClr val="001F5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 spc="-10">
                <a:solidFill>
                  <a:srgbClr val="071D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Institution</a:t>
            </a:r>
            <a:endParaRPr sz="19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1" name="Google Shape;51;p7"/>
          <p:cNvSpPr txBox="1"/>
          <p:nvPr/>
        </p:nvSpPr>
        <p:spPr>
          <a:xfrm>
            <a:off x="240426" y="1561884"/>
            <a:ext cx="11754900" cy="3020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9375" rIns="0" bIns="0" anchor="t" anchorCtr="0">
            <a:spAutoFit/>
          </a:bodyPr>
          <a:lstStyle/>
          <a:p>
            <a:pPr marL="1536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100" dirty="0">
                <a:solidFill>
                  <a:srgbClr val="006EC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</a:t>
            </a:r>
            <a:r>
              <a:rPr lang="en-IN" sz="2100" spc="370" dirty="0">
                <a:solidFill>
                  <a:srgbClr val="006EC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2100" spc="140" dirty="0">
                <a:solidFill>
                  <a:srgbClr val="0070C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OF</a:t>
            </a:r>
            <a:r>
              <a:rPr lang="en-IN" sz="2100" spc="50" dirty="0">
                <a:solidFill>
                  <a:srgbClr val="0070C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2100" spc="95" dirty="0">
                <a:solidFill>
                  <a:srgbClr val="0072C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ARTIFICIAL</a:t>
            </a:r>
            <a:r>
              <a:rPr lang="en-IN" sz="2100" spc="-5" dirty="0">
                <a:solidFill>
                  <a:srgbClr val="0072C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2100" spc="70" dirty="0">
                <a:solidFill>
                  <a:srgbClr val="0570B5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INTELLIGENCE</a:t>
            </a:r>
            <a:r>
              <a:rPr lang="en-IN" sz="2100" spc="490" dirty="0">
                <a:solidFill>
                  <a:srgbClr val="0570B5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2100" dirty="0">
                <a:solidFill>
                  <a:srgbClr val="0072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AND</a:t>
            </a:r>
            <a:r>
              <a:rPr lang="en-IN" sz="2100" spc="185" dirty="0">
                <a:solidFill>
                  <a:srgbClr val="0072C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2100" spc="65" dirty="0">
                <a:solidFill>
                  <a:srgbClr val="0070B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MACHINE</a:t>
            </a:r>
            <a:r>
              <a:rPr lang="en-IN" sz="2100" spc="330" dirty="0">
                <a:solidFill>
                  <a:srgbClr val="0070B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2100" spc="-10" dirty="0">
                <a:solidFill>
                  <a:srgbClr val="0172B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LEARNING</a:t>
            </a:r>
            <a:endParaRPr sz="21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35" lvl="0" indent="0" algn="ctr" rtl="0">
              <a:spcBef>
                <a:spcPts val="1505"/>
              </a:spcBef>
              <a:spcAft>
                <a:spcPts val="0"/>
              </a:spcAft>
              <a:buNone/>
            </a:pPr>
            <a:r>
              <a:rPr lang="en-IN" sz="3850" dirty="0">
                <a:solidFill>
                  <a:srgbClr val="0C54D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IN" sz="3850" spc="500" dirty="0">
                <a:solidFill>
                  <a:srgbClr val="0C54D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3850" spc="-10" dirty="0">
                <a:solidFill>
                  <a:srgbClr val="0A5DD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Phase II</a:t>
            </a:r>
            <a:endParaRPr sz="3850" spc="-1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35" lvl="0" indent="0" algn="ctr" rtl="0">
              <a:spcBef>
                <a:spcPts val="1505"/>
              </a:spcBef>
              <a:spcAft>
                <a:spcPts val="0"/>
              </a:spcAft>
              <a:buNone/>
            </a:pPr>
            <a:r>
              <a:rPr lang="en-IN" sz="1850" dirty="0">
                <a:solidFill>
                  <a:srgbClr val="0F59D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(Subject</a:t>
            </a:r>
            <a:r>
              <a:rPr lang="en-IN" sz="1850" spc="409" dirty="0">
                <a:solidFill>
                  <a:srgbClr val="0F59D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850" spc="-10" dirty="0">
                <a:solidFill>
                  <a:srgbClr val="135DD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Code:23AISE409)</a:t>
            </a:r>
            <a:endParaRPr sz="26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35" lvl="0" algn="ctr">
              <a:spcBef>
                <a:spcPts val="1505"/>
              </a:spcBef>
            </a:pPr>
            <a:r>
              <a:rPr lang="en-IN" sz="2600" dirty="0">
                <a:solidFill>
                  <a:srgbClr val="F20305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"</a:t>
            </a:r>
            <a:r>
              <a:rPr lang="en-IN" sz="1800" b="1" dirty="0">
                <a:solidFill>
                  <a:srgbClr val="0000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Probabilistic Cascading Failure and Agent Assisted Root Cause Analysis for </a:t>
            </a:r>
            <a:r>
              <a:rPr lang="en-US" sz="2800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Microservice</a:t>
            </a:r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Systems</a:t>
            </a:r>
            <a:r>
              <a:rPr lang="en-IN" sz="2800" dirty="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 </a:t>
            </a:r>
            <a:r>
              <a:rPr lang="en-IN" sz="2600" spc="-10" dirty="0">
                <a:solidFill>
                  <a:srgbClr val="FB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"</a:t>
            </a:r>
            <a:endParaRPr sz="2600" spc="-10" dirty="0">
              <a:solidFill>
                <a:srgbClr val="FB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2700" lvl="0" indent="0" algn="l" rtl="0">
              <a:lnSpc>
                <a:spcPct val="772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 b="1" u="sng" dirty="0">
                <a:solidFill>
                  <a:srgbClr val="23232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</a:t>
            </a:r>
            <a:r>
              <a:rPr lang="en-IN" sz="2200" b="1" u="sng" spc="275" dirty="0">
                <a:solidFill>
                  <a:srgbClr val="23232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2200" b="1" u="sng" spc="-10" dirty="0">
                <a:solidFill>
                  <a:srgbClr val="232323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Associates:</a:t>
            </a:r>
            <a:endParaRPr sz="2200" b="1" u="sng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2" name="Google Shape;52;p7"/>
          <p:cNvSpPr txBox="1"/>
          <p:nvPr/>
        </p:nvSpPr>
        <p:spPr>
          <a:xfrm>
            <a:off x="240422" y="4468253"/>
            <a:ext cx="3882000" cy="1709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0775" rIns="0" bIns="0" anchor="t" anchorCtr="0">
            <a:spAutoFit/>
          </a:bodyPr>
          <a:lstStyle/>
          <a:p>
            <a:pPr marL="12700" marR="5080" lvl="0" indent="4445" algn="l" rtl="0">
              <a:lnSpc>
                <a:spcPct val="1155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800" dirty="0"/>
              <a:t/>
            </a:r>
            <a:br>
              <a:rPr lang="en-IN" sz="1800" dirty="0"/>
            </a:br>
            <a:r>
              <a:rPr lang="en-IN" sz="1900" spc="45" dirty="0" smtClean="0">
                <a:latin typeface="Times New Roman"/>
                <a:ea typeface="Times New Roman"/>
                <a:cs typeface="Times New Roman"/>
                <a:sym typeface="Times New Roman"/>
              </a:rPr>
              <a:t>K </a:t>
            </a:r>
            <a:r>
              <a:rPr lang="en-IN" sz="1900" spc="45" dirty="0" err="1" smtClean="0">
                <a:latin typeface="Times New Roman"/>
                <a:ea typeface="Times New Roman"/>
                <a:cs typeface="Times New Roman"/>
                <a:sym typeface="Times New Roman"/>
              </a:rPr>
              <a:t>Bharath</a:t>
            </a:r>
            <a:r>
              <a:rPr lang="en-IN" sz="1900" spc="45" dirty="0" smtClean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 spc="45" dirty="0" err="1" smtClean="0">
                <a:latin typeface="Times New Roman"/>
                <a:ea typeface="Times New Roman"/>
                <a:cs typeface="Times New Roman"/>
                <a:sym typeface="Times New Roman"/>
              </a:rPr>
              <a:t>Parmar</a:t>
            </a:r>
            <a:r>
              <a:rPr lang="en-IN" sz="1900" spc="45" dirty="0">
                <a:latin typeface="Times New Roman"/>
                <a:ea typeface="Times New Roman"/>
                <a:cs typeface="Times New Roman"/>
                <a:sym typeface="Times New Roman"/>
              </a:rPr>
              <a:t> (</a:t>
            </a:r>
            <a:r>
              <a:rPr lang="en-IN" sz="1900" spc="45" dirty="0" smtClean="0">
                <a:latin typeface="Times New Roman"/>
                <a:ea typeface="Times New Roman"/>
                <a:cs typeface="Times New Roman"/>
                <a:sym typeface="Times New Roman"/>
              </a:rPr>
              <a:t>4MT24AI402)</a:t>
            </a:r>
            <a:r>
              <a:rPr lang="en-IN" sz="1900" spc="45" dirty="0">
                <a:latin typeface="Times New Roman"/>
                <a:ea typeface="Times New Roman"/>
                <a:cs typeface="Times New Roman"/>
                <a:sym typeface="Times New Roman"/>
              </a:rPr>
              <a:t> </a:t>
            </a:r>
            <a:endParaRPr sz="1800" dirty="0"/>
          </a:p>
          <a:p>
            <a:pPr marL="12700" marR="5080" lvl="0" indent="4445" algn="l" rtl="0">
              <a:lnSpc>
                <a:spcPct val="115599"/>
              </a:lnSpc>
              <a:spcBef>
                <a:spcPts val="85"/>
              </a:spcBef>
              <a:spcAft>
                <a:spcPts val="0"/>
              </a:spcAft>
              <a:buNone/>
            </a:pPr>
            <a:r>
              <a:rPr lang="en-IN" sz="1850" spc="45" dirty="0" err="1" smtClean="0">
                <a:latin typeface="Times New Roman"/>
                <a:ea typeface="Times New Roman"/>
                <a:cs typeface="Times New Roman"/>
                <a:sym typeface="Times New Roman"/>
              </a:rPr>
              <a:t>Royson</a:t>
            </a:r>
            <a:r>
              <a:rPr lang="en-IN" sz="1850" spc="45" dirty="0" smtClean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850" spc="45" dirty="0" err="1" smtClean="0">
                <a:latin typeface="Times New Roman"/>
                <a:ea typeface="Times New Roman"/>
                <a:cs typeface="Times New Roman"/>
                <a:sym typeface="Times New Roman"/>
              </a:rPr>
              <a:t>salis</a:t>
            </a:r>
            <a:r>
              <a:rPr lang="en-IN" sz="1850" spc="45" dirty="0" smtClean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850" spc="-10" dirty="0">
                <a:latin typeface="Times New Roman"/>
                <a:ea typeface="Times New Roman"/>
                <a:cs typeface="Times New Roman"/>
                <a:sym typeface="Times New Roman"/>
              </a:rPr>
              <a:t>(</a:t>
            </a:r>
            <a:r>
              <a:rPr lang="en-IN" sz="1850" spc="-10" dirty="0" smtClean="0">
                <a:latin typeface="Times New Roman"/>
                <a:ea typeface="Times New Roman"/>
                <a:cs typeface="Times New Roman"/>
                <a:sym typeface="Times New Roman"/>
              </a:rPr>
              <a:t>4MT23AI046)</a:t>
            </a:r>
            <a:endParaRPr sz="1850" spc="-1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12700" marR="5080" lvl="0" indent="4445" algn="l" rtl="0">
              <a:lnSpc>
                <a:spcPct val="115599"/>
              </a:lnSpc>
              <a:spcBef>
                <a:spcPts val="85"/>
              </a:spcBef>
              <a:spcAft>
                <a:spcPts val="0"/>
              </a:spcAft>
              <a:buNone/>
            </a:pPr>
            <a:r>
              <a:rPr lang="en-IN" sz="1900" spc="-10" dirty="0" smtClean="0">
                <a:latin typeface="Times New Roman"/>
                <a:ea typeface="Times New Roman"/>
                <a:cs typeface="Times New Roman"/>
                <a:sym typeface="Times New Roman"/>
              </a:rPr>
              <a:t>Anish C</a:t>
            </a:r>
            <a:r>
              <a:rPr lang="en-IN" sz="1900" spc="-10" dirty="0">
                <a:latin typeface="Times New Roman"/>
                <a:ea typeface="Times New Roman"/>
                <a:cs typeface="Times New Roman"/>
                <a:sym typeface="Times New Roman"/>
              </a:rPr>
              <a:t> (</a:t>
            </a:r>
            <a:r>
              <a:rPr lang="en-IN" sz="1900" spc="-10" dirty="0" smtClean="0">
                <a:latin typeface="Times New Roman"/>
                <a:ea typeface="Times New Roman"/>
                <a:cs typeface="Times New Roman"/>
                <a:sym typeface="Times New Roman"/>
              </a:rPr>
              <a:t>4MT23AI008)</a:t>
            </a:r>
            <a:endParaRPr sz="1800" dirty="0" smtClean="0"/>
          </a:p>
          <a:p>
            <a:pPr marL="12700" marR="5080" lvl="0" indent="4445" algn="l" rtl="0">
              <a:lnSpc>
                <a:spcPct val="115599"/>
              </a:lnSpc>
              <a:spcBef>
                <a:spcPts val="85"/>
              </a:spcBef>
              <a:spcAft>
                <a:spcPts val="0"/>
              </a:spcAft>
              <a:buNone/>
            </a:pPr>
            <a:r>
              <a:rPr lang="en-IN" sz="1850" spc="-10" dirty="0" err="1" smtClean="0">
                <a:latin typeface="Times New Roman"/>
                <a:ea typeface="Times New Roman"/>
                <a:cs typeface="Times New Roman"/>
                <a:sym typeface="Times New Roman"/>
              </a:rPr>
              <a:t>Dhanush</a:t>
            </a:r>
            <a:r>
              <a:rPr lang="en-IN" sz="1850" spc="-10" dirty="0" smtClean="0">
                <a:latin typeface="Times New Roman"/>
                <a:ea typeface="Times New Roman"/>
                <a:cs typeface="Times New Roman"/>
                <a:sym typeface="Times New Roman"/>
              </a:rPr>
              <a:t> K</a:t>
            </a:r>
            <a:r>
              <a:rPr lang="en-IN" sz="1850" spc="-10" dirty="0" smtClean="0">
                <a:latin typeface="Times New Roman"/>
                <a:ea typeface="Times New Roman"/>
                <a:cs typeface="Times New Roman"/>
                <a:sym typeface="Times New Roman"/>
              </a:rPr>
              <a:t>(4MT23AI401) </a:t>
            </a:r>
            <a:endParaRPr sz="1850" spc="-1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3" name="Google Shape;53;p7"/>
          <p:cNvSpPr txBox="1"/>
          <p:nvPr/>
        </p:nvSpPr>
        <p:spPr>
          <a:xfrm>
            <a:off x="8612155" y="4870410"/>
            <a:ext cx="3342510" cy="1428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875" rIns="0" bIns="0" anchor="t" anchorCtr="0">
            <a:spAutoFit/>
          </a:bodyPr>
          <a:lstStyle/>
          <a:p>
            <a:pPr marL="333375" marR="5080" lvl="0" indent="-321310" algn="ctr" rtl="0">
              <a:lnSpc>
                <a:spcPct val="11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900" u="sng" dirty="0">
                <a:solidFill>
                  <a:srgbClr val="95373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Under</a:t>
            </a:r>
            <a:r>
              <a:rPr lang="en-IN" sz="1900" u="sng" spc="225" dirty="0">
                <a:solidFill>
                  <a:srgbClr val="C68C87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 u="sng" dirty="0">
                <a:solidFill>
                  <a:srgbClr val="C3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</a:t>
            </a:r>
            <a:r>
              <a:rPr lang="en-IN" sz="1900" u="sng" spc="165" dirty="0">
                <a:solidFill>
                  <a:srgbClr val="C3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 u="sng" dirty="0">
                <a:solidFill>
                  <a:srgbClr val="BA030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Guidance</a:t>
            </a:r>
            <a:r>
              <a:rPr lang="en-IN" sz="1900" u="sng" spc="280" dirty="0">
                <a:solidFill>
                  <a:srgbClr val="BA030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 u="sng" dirty="0">
                <a:solidFill>
                  <a:srgbClr val="B8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of:</a:t>
            </a:r>
            <a:r>
              <a:rPr lang="en-IN" sz="1900" u="sng" spc="125" dirty="0">
                <a:solidFill>
                  <a:srgbClr val="B8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1900" spc="125" dirty="0">
                <a:solidFill>
                  <a:srgbClr val="B8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endParaRPr sz="19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33375" marR="5080" lvl="0" indent="-321310" algn="ctr" rtl="0">
              <a:lnSpc>
                <a:spcPct val="112900"/>
              </a:lnSpc>
              <a:spcBef>
                <a:spcPts val="125"/>
              </a:spcBef>
              <a:spcAft>
                <a:spcPts val="0"/>
              </a:spcAft>
              <a:buNone/>
            </a:pPr>
            <a:r>
              <a:rPr lang="en-IN" sz="2000" cap="none" dirty="0">
                <a:solidFill>
                  <a:schemeClr val="dk1"/>
                </a:solidFill>
                <a:highlight>
                  <a:srgbClr val="FAFAF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DR. </a:t>
            </a:r>
            <a:r>
              <a:rPr lang="en-IN" sz="2000" cap="none" dirty="0" smtClean="0">
                <a:solidFill>
                  <a:schemeClr val="dk1"/>
                </a:solidFill>
                <a:highlight>
                  <a:srgbClr val="FAFAF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MANJUNATH PRASAD</a:t>
            </a:r>
            <a:endParaRPr sz="20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33375" marR="5080" lvl="0" indent="-321310" algn="ctr" rtl="0">
              <a:lnSpc>
                <a:spcPct val="112900"/>
              </a:lnSpc>
              <a:spcBef>
                <a:spcPts val="125"/>
              </a:spcBef>
              <a:spcAft>
                <a:spcPts val="0"/>
              </a:spcAft>
              <a:buNone/>
            </a:pPr>
            <a:r>
              <a:rPr lang="en-IN" sz="2000" spc="-25" dirty="0">
                <a:solidFill>
                  <a:schemeClr val="dk1"/>
                </a:solidFill>
                <a:highlight>
                  <a:srgbClr val="FAFAFA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Head of Department</a:t>
            </a:r>
            <a:endParaRPr sz="2000" spc="-10" dirty="0">
              <a:solidFill>
                <a:schemeClr val="dk1"/>
              </a:solidFill>
              <a:highlight>
                <a:srgbClr val="FAFAFA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333375" marR="5080" lvl="0" indent="-321310" algn="ctr" rtl="0">
              <a:lnSpc>
                <a:spcPct val="112900"/>
              </a:lnSpc>
              <a:spcBef>
                <a:spcPts val="125"/>
              </a:spcBef>
              <a:spcAft>
                <a:spcPts val="0"/>
              </a:spcAft>
              <a:buNone/>
            </a:pPr>
            <a:r>
              <a:rPr lang="en-IN" sz="20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Dept</a:t>
            </a:r>
            <a:r>
              <a:rPr lang="en-IN" sz="2000" spc="45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20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of</a:t>
            </a:r>
            <a:r>
              <a:rPr lang="en-IN" sz="2000" spc="-15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IN" sz="2000" spc="-2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AIML </a:t>
            </a:r>
            <a:endParaRPr sz="20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4" name="Google Shape;54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7136" y="180065"/>
            <a:ext cx="1348361" cy="13818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2325916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CONTENTS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sp>
        <p:nvSpPr>
          <p:cNvPr id="77" name="Rectangle 76"/>
          <p:cNvSpPr/>
          <p:nvPr/>
        </p:nvSpPr>
        <p:spPr>
          <a:xfrm>
            <a:off x="731520" y="1280160"/>
            <a:ext cx="10698480" cy="4572000"/>
          </a:xfrm>
          <a:prstGeom prst="rect">
            <a:avLst/>
          </a:prstGeom>
          <a:noFill/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05840" y="1417320"/>
            <a:ext cx="1014984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700"/>
              </a:spcAft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Abstract</a:t>
            </a:r>
          </a:p>
          <a:p>
            <a:pPr>
              <a:spcAft>
                <a:spcPts val="700"/>
              </a:spcAft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Introduction</a:t>
            </a:r>
          </a:p>
          <a:p>
            <a:pPr>
              <a:spcAft>
                <a:spcPts val="700"/>
              </a:spcAft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Problem Statement and Objectives</a:t>
            </a:r>
          </a:p>
          <a:p>
            <a:pPr>
              <a:spcAft>
                <a:spcPts val="700"/>
              </a:spcAft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Literature Survey and Research Gap</a:t>
            </a:r>
          </a:p>
          <a:p>
            <a:pPr>
              <a:spcAft>
                <a:spcPts val="700"/>
              </a:spcAft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Proposed System and Work Done</a:t>
            </a:r>
          </a:p>
          <a:p>
            <a:pPr>
              <a:spcAft>
                <a:spcPts val="700"/>
              </a:spcAft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Requirements, Architecture</a:t>
            </a:r>
          </a:p>
          <a:p>
            <a:pPr>
              <a:spcAft>
                <a:spcPts val="700"/>
              </a:spcAft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The Product: Live Screens</a:t>
            </a:r>
          </a:p>
          <a:p>
            <a:pPr>
              <a:spcAft>
                <a:spcPts val="700"/>
              </a:spcAft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How the Algorithms Work (in plain words)</a:t>
            </a:r>
          </a:p>
          <a:p>
            <a:pPr>
              <a:spcAft>
                <a:spcPts val="700"/>
              </a:spcAft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Testing, Evaluation and Results</a:t>
            </a:r>
          </a:p>
          <a:p>
            <a:pPr>
              <a:spcAft>
                <a:spcPts val="700"/>
              </a:spcAft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Conclusion and Future Work</a:t>
            </a:r>
          </a:p>
          <a:p>
            <a:pPr>
              <a:spcAft>
                <a:spcPts val="700"/>
              </a:spcAft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ABSTRACT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sp>
        <p:nvSpPr>
          <p:cNvPr id="77" name="TextBox 76"/>
          <p:cNvSpPr txBox="1"/>
          <p:nvPr/>
        </p:nvSpPr>
        <p:spPr>
          <a:xfrm>
            <a:off x="731520" y="1371600"/>
            <a:ext cx="106984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285750" indent="-285750">
              <a:spcAft>
                <a:spcPts val="20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Times New Roman"/>
              </a:rPr>
              <a:t>When one microservice fails, the services that depend on it fail too, and finding the real cause is slow.</a:t>
            </a:r>
          </a:p>
          <a:p>
            <a:pPr marL="285750" indent="-285750">
              <a:spcAft>
                <a:spcPts val="20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Times New Roman"/>
              </a:rPr>
              <a:t>We built Microservice Mapper: it watches a running system from outside, learns what is normal for each service, and draws the live map.</a:t>
            </a:r>
          </a:p>
          <a:p>
            <a:pPr marL="285750" indent="-285750">
              <a:spcAft>
                <a:spcPts val="20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Times New Roman"/>
              </a:rPr>
              <a:t>When something breaks it names the most likely root cause and warns which healthy services are in danger next.</a:t>
            </a:r>
          </a:p>
          <a:p>
            <a:pPr marL="285750" indent="-285750">
              <a:spcAft>
                <a:spcPts val="20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Times New Roman"/>
              </a:rPr>
              <a:t>We tested it on two systems with 34 deliberately injected faults: it caught 97%, and pointed at the right service first in 58% of those.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INTRODUCTION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sp>
        <p:nvSpPr>
          <p:cNvPr id="77" name="Rectangle 76"/>
          <p:cNvSpPr/>
          <p:nvPr/>
        </p:nvSpPr>
        <p:spPr>
          <a:xfrm>
            <a:off x="822960" y="1325880"/>
            <a:ext cx="10515600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Times New Roman"/>
              </a:rPr>
              <a:t>Many small services</a:t>
            </a:r>
          </a:p>
          <a:p>
            <a:pPr algn="l"/>
            <a:r>
              <a:rPr sz="1800" b="0" i="0">
                <a:solidFill>
                  <a:srgbClr val="000000"/>
                </a:solidFill>
                <a:latin typeface="Times New Roman"/>
              </a:rPr>
              <a:t>An online shop is not one program. It is a frontend, a cart, payments, orders, a database... that call each other.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22960" y="2926080"/>
            <a:ext cx="10515600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Times New Roman"/>
              </a:rPr>
              <a:t>One failure, many alarms</a:t>
            </a:r>
          </a:p>
          <a:p>
            <a:pPr algn="l"/>
            <a:r>
              <a:rPr sz="1800" b="0" i="0">
                <a:solidFill>
                  <a:srgbClr val="000000"/>
                </a:solidFill>
                <a:latin typeface="Times New Roman"/>
              </a:rPr>
              <a:t>When the database stops, orders fails, then the frontend fails. The engineer sees three red services and must guess which one started it.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2960" y="4526280"/>
            <a:ext cx="10515600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Times New Roman"/>
              </a:rPr>
              <a:t>What we built</a:t>
            </a:r>
          </a:p>
          <a:p>
            <a:pPr algn="l"/>
            <a:r>
              <a:rPr sz="1800" b="0" i="0">
                <a:solidFill>
                  <a:srgbClr val="000000"/>
                </a:solidFill>
                <a:latin typeface="Times New Roman"/>
              </a:rPr>
              <a:t>A tool that finds the starting point and warns who is next, without touching the services.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PROBLEM STATEMENT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sp>
        <p:nvSpPr>
          <p:cNvPr id="77" name="Rounded Rectangle 76"/>
          <p:cNvSpPr/>
          <p:nvPr/>
        </p:nvSpPr>
        <p:spPr>
          <a:xfrm>
            <a:off x="822960" y="1463040"/>
            <a:ext cx="1828800" cy="109728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254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800" b="1" i="0">
                <a:solidFill>
                  <a:srgbClr val="000000"/>
                </a:solidFill>
                <a:latin typeface="Times New Roman"/>
              </a:rPr>
              <a:t>frontend</a:t>
            </a:r>
          </a:p>
          <a:p>
            <a:pPr algn="ctr"/>
            <a:r>
              <a:rPr sz="1200" b="0" i="0">
                <a:solidFill>
                  <a:srgbClr val="666666"/>
                </a:solidFill>
                <a:latin typeface="Times New Roman"/>
              </a:rPr>
              <a:t>fails last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2651760" y="2011680"/>
            <a:ext cx="182880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78"/>
          <p:cNvSpPr/>
          <p:nvPr/>
        </p:nvSpPr>
        <p:spPr>
          <a:xfrm>
            <a:off x="2834640" y="1463040"/>
            <a:ext cx="1828800" cy="109728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254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800" b="1" i="0">
                <a:solidFill>
                  <a:srgbClr val="000000"/>
                </a:solidFill>
                <a:latin typeface="Times New Roman"/>
              </a:rPr>
              <a:t>orders</a:t>
            </a:r>
          </a:p>
          <a:p>
            <a:pPr algn="ctr"/>
            <a:r>
              <a:rPr sz="1200" b="0" i="0">
                <a:solidFill>
                  <a:srgbClr val="666666"/>
                </a:solidFill>
                <a:latin typeface="Times New Roman"/>
              </a:rPr>
              <a:t>fails second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4663440" y="2011680"/>
            <a:ext cx="182880" cy="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ounded Rectangle 80"/>
          <p:cNvSpPr/>
          <p:nvPr/>
        </p:nvSpPr>
        <p:spPr>
          <a:xfrm>
            <a:off x="4846320" y="1463040"/>
            <a:ext cx="1828800" cy="109728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2540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800" b="1" i="0">
                <a:solidFill>
                  <a:srgbClr val="000000"/>
                </a:solidFill>
                <a:latin typeface="Times New Roman"/>
              </a:rPr>
              <a:t>database</a:t>
            </a:r>
          </a:p>
          <a:p>
            <a:pPr algn="ctr"/>
            <a:r>
              <a:rPr sz="1200" b="0" i="0">
                <a:solidFill>
                  <a:srgbClr val="666666"/>
                </a:solidFill>
                <a:latin typeface="Times New Roman"/>
              </a:rPr>
              <a:t>fails first: the real cause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2697480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1">
                <a:solidFill>
                  <a:srgbClr val="666666"/>
                </a:solidFill>
                <a:latin typeface="Times New Roman"/>
              </a:rPr>
              <a:t>calls go this way, failures travel back the other way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" y="3291840"/>
            <a:ext cx="6217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285750" indent="-285750">
              <a:spcAft>
                <a:spcPts val="1400"/>
              </a:spcAft>
              <a:buChar char="•"/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Monitoring shows every red service equally.</a:t>
            </a:r>
          </a:p>
          <a:p>
            <a:pPr marL="285750" indent="-285750">
              <a:spcAft>
                <a:spcPts val="1400"/>
              </a:spcAft>
              <a:buChar char="•"/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A fixed alert limit is wrong: normal is different for every service.</a:t>
            </a:r>
          </a:p>
          <a:p>
            <a:pPr marL="285750" indent="-285750">
              <a:spcAft>
                <a:spcPts val="1400"/>
              </a:spcAft>
              <a:buChar char="•"/>
            </a:pPr>
            <a:r>
              <a:rPr sz="2100" b="0" i="0">
                <a:solidFill>
                  <a:srgbClr val="000000"/>
                </a:solidFill>
                <a:latin typeface="Times New Roman"/>
              </a:rPr>
              <a:t>Nobody tells you which service will fail next.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589520" y="1463040"/>
            <a:ext cx="4023360" cy="420624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Times New Roman"/>
              </a:rPr>
              <a:t>What is needed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Times New Roman"/>
              </a:rPr>
              <a:t>A lightweight, explainable tool that learns normal, names the likely root cause, and estimates who is at risk.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OBJECTIVES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sp>
        <p:nvSpPr>
          <p:cNvPr id="77" name="Rectangle 76"/>
          <p:cNvSpPr/>
          <p:nvPr/>
        </p:nvSpPr>
        <p:spPr>
          <a:xfrm>
            <a:off x="822960" y="1371600"/>
            <a:ext cx="1051560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1  Observe</a:t>
            </a:r>
          </a:p>
          <a:p>
            <a:pPr algn="l"/>
            <a:r>
              <a:rPr sz="2100" b="0" i="0">
                <a:solidFill>
                  <a:srgbClr val="000000"/>
                </a:solidFill>
                <a:latin typeface="Times New Roman"/>
              </a:rPr>
              <a:t>Discover the services and who calls whom from outside, and draw a live map.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22960" y="2926080"/>
            <a:ext cx="1051560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2  Explain</a:t>
            </a:r>
          </a:p>
          <a:p>
            <a:pPr algn="l"/>
            <a:r>
              <a:rPr sz="2100" b="0" i="0">
                <a:solidFill>
                  <a:srgbClr val="000000"/>
                </a:solidFill>
                <a:latin typeface="Times New Roman"/>
              </a:rPr>
              <a:t>Learn each service's normal, detect problems, and rank the root cause.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2960" y="4480560"/>
            <a:ext cx="1051560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3  Predict</a:t>
            </a:r>
          </a:p>
          <a:p>
            <a:pPr algn="l"/>
            <a:r>
              <a:rPr sz="2100" b="0" i="0">
                <a:solidFill>
                  <a:srgbClr val="000000"/>
                </a:solidFill>
                <a:latin typeface="Times New Roman"/>
              </a:rPr>
              <a:t>Estimate which healthy services fail next, and measure it honestly.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LITERATURE SURVEY (1/2)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graphicFrame>
        <p:nvGraphicFramePr>
          <p:cNvPr id="77" name="Table 76"/>
          <p:cNvGraphicFramePr>
            <a:graphicFrameLocks noGrp="1"/>
          </p:cNvGraphicFramePr>
          <p:nvPr/>
        </p:nvGraphicFramePr>
        <p:xfrm>
          <a:off x="548640" y="13716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3657600"/>
                <a:gridCol w="2560320"/>
                <a:gridCol w="24688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Times New Roman"/>
                        </a:rPr>
                        <a:t>Paper</a:t>
                      </a:r>
                    </a:p>
                  </a:txBody>
                  <a:tcPr marL="64008" marR="64008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Times New Roman"/>
                        </a:rPr>
                        <a:t>Idea</a:t>
                      </a:r>
                    </a:p>
                  </a:txBody>
                  <a:tcPr marL="64008" marR="64008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Times New Roman"/>
                        </a:rPr>
                        <a:t>Limitation</a:t>
                      </a:r>
                    </a:p>
                  </a:txBody>
                  <a:tcPr marL="64008" marR="64008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Times New Roman"/>
                        </a:rPr>
                        <a:t>What we add</a:t>
                      </a:r>
                    </a:p>
                  </a:txBody>
                  <a:tcPr marL="64008" marR="64008" marT="27432" marB="27432" anchor="ctr">
                    <a:solidFill>
                      <a:srgbClr val="000000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</a:rPr>
                        <a:t>Pinpoint [6]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Trace requests to find failing components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Needs instrumented code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Nothing installed in services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</a:rPr>
                        <a:t>Kim et al. [7]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Root cause in service-oriented systems from metrics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Needs past incidents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Learns normal per service, no history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</a:rPr>
                        <a:t>MicroRCA [1]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Service graph, ranking by anomaly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Ranks causes only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Cascade forecast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</a:rPr>
                        <a:t>CloudRanger [2]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Causal links between metrics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Needs long history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Short warm-up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</a:rPr>
                        <a:t>Microscope [3]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Causality graph from connections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No spread estimate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Risk probabilities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8" name="Rounded Rectangle 77"/>
          <p:cNvSpPr/>
          <p:nvPr/>
        </p:nvSpPr>
        <p:spPr>
          <a:xfrm>
            <a:off x="640080" y="5623560"/>
            <a:ext cx="10972800" cy="566928"/>
          </a:xfrm>
          <a:prstGeom prst="roundRect">
            <a:avLst>
              <a:gd name="adj" fmla="val 15000"/>
            </a:avLst>
          </a:prstGeom>
          <a:solidFill>
            <a:srgbClr val="EEF4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600" b="1" i="0">
                <a:solidFill>
                  <a:srgbClr val="1D4ED8"/>
                </a:solidFill>
                <a:latin typeface="Times New Roman"/>
              </a:rPr>
              <a:t>In simple terms: </a:t>
            </a:r>
            <a:r>
              <a:rPr sz="1600" b="0" i="0">
                <a:solidFill>
                  <a:srgbClr val="000000"/>
                </a:solidFill>
                <a:latin typeface="Times New Roman"/>
              </a:rPr>
              <a:t>older tools need changes inside the services or long history; we only observe from outside.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LITERATURE SURVEY (2/2)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graphicFrame>
        <p:nvGraphicFramePr>
          <p:cNvPr id="77" name="Table 76"/>
          <p:cNvGraphicFramePr>
            <a:graphicFrameLocks noGrp="1"/>
          </p:cNvGraphicFramePr>
          <p:nvPr/>
        </p:nvGraphicFramePr>
        <p:xfrm>
          <a:off x="548640" y="13716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3657600"/>
                <a:gridCol w="2560320"/>
                <a:gridCol w="24688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Times New Roman"/>
                        </a:rPr>
                        <a:t>Paper</a:t>
                      </a:r>
                    </a:p>
                  </a:txBody>
                  <a:tcPr marL="64008" marR="64008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Times New Roman"/>
                        </a:rPr>
                        <a:t>Idea</a:t>
                      </a:r>
                    </a:p>
                  </a:txBody>
                  <a:tcPr marL="64008" marR="64008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Times New Roman"/>
                        </a:rPr>
                        <a:t>Limitation</a:t>
                      </a:r>
                    </a:p>
                  </a:txBody>
                  <a:tcPr marL="64008" marR="64008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Times New Roman"/>
                        </a:rPr>
                        <a:t>What we add</a:t>
                      </a:r>
                    </a:p>
                  </a:txBody>
                  <a:tcPr marL="64008" marR="64008" marT="27432" marB="27432" anchor="ctr">
                    <a:solidFill>
                      <a:srgbClr val="000000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</a:rPr>
                        <a:t>MS-Rank [8]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Multi-metric ranking of suspect services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No forecast of who fails next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Forecast along the call graph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</a:rPr>
                        <a:t>Automap [9]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Automatic service dependency graph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Graph only, no health model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Graph plus detection and ranking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</a:rPr>
                        <a:t>Sage [4]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Causal model, machine learning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Needs model training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Works with no training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</a:rPr>
                        <a:t>Ikram et al. [5]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Causal discovery on metrics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Needs lots of data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Cause versus victim from call graph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</a:rPr>
                        <a:t>Soldani, Brogi [25]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Survey of anomaly detection and root cause analysis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Shows open gaps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Our gap: cause plus spread, agentless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8" name="Rounded Rectangle 77"/>
          <p:cNvSpPr/>
          <p:nvPr/>
        </p:nvSpPr>
        <p:spPr>
          <a:xfrm>
            <a:off x="640080" y="5623560"/>
            <a:ext cx="10972800" cy="566928"/>
          </a:xfrm>
          <a:prstGeom prst="roundRect">
            <a:avLst>
              <a:gd name="adj" fmla="val 15000"/>
            </a:avLst>
          </a:prstGeom>
          <a:solidFill>
            <a:srgbClr val="EEF4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600" b="1" i="0">
                <a:solidFill>
                  <a:srgbClr val="1D4ED8"/>
                </a:solidFill>
                <a:latin typeface="Times New Roman"/>
              </a:rPr>
              <a:t>In simple terms: </a:t>
            </a:r>
            <a:r>
              <a:rPr sz="1600" b="0" i="0">
                <a:solidFill>
                  <a:srgbClr val="000000"/>
                </a:solidFill>
                <a:latin typeface="Times New Roman"/>
              </a:rPr>
              <a:t>the surveys agree that detection, cause and spread are rarely solved together without agents.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RESEARCH GAP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sp>
        <p:nvSpPr>
          <p:cNvPr id="77" name="Rectangle 76"/>
          <p:cNvSpPr/>
          <p:nvPr/>
        </p:nvSpPr>
        <p:spPr>
          <a:xfrm>
            <a:off x="822960" y="1371600"/>
            <a:ext cx="5120640" cy="192024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Separate steps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Times New Roman"/>
              </a:rPr>
              <a:t>Detecting and finding the cause are usually different tools.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217920" y="1371600"/>
            <a:ext cx="5120640" cy="192024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Fixed limits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Times New Roman"/>
              </a:rPr>
              <a:t>Every service has its own normal, one limit fits none.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2960" y="3566160"/>
            <a:ext cx="5120640" cy="192024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Heavy setup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Times New Roman"/>
              </a:rPr>
              <a:t>Many need agents or labelled history first.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17920" y="3566160"/>
            <a:ext cx="5120640" cy="192024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No forecast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Times New Roman"/>
              </a:rPr>
              <a:t>Rarely tells you who will fail next.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PROPOSED SYSTEM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sp>
        <p:nvSpPr>
          <p:cNvPr id="77" name="Rectangle 76"/>
          <p:cNvSpPr/>
          <p:nvPr/>
        </p:nvSpPr>
        <p:spPr>
          <a:xfrm>
            <a:off x="822960" y="1280160"/>
            <a:ext cx="731520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Times New Roman"/>
              </a:rPr>
              <a:t>01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554480" y="1280160"/>
            <a:ext cx="97840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/>
            <a:r>
              <a:rPr sz="2200" b="0" i="0">
                <a:solidFill>
                  <a:srgbClr val="000000"/>
                </a:solidFill>
                <a:latin typeface="Times New Roman"/>
              </a:rPr>
              <a:t>Watch from outside: SSH, Docker, sockets. Nothing installed.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2960" y="2194560"/>
            <a:ext cx="731520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Times New Roman"/>
              </a:rPr>
              <a:t>02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554480" y="2194560"/>
            <a:ext cx="97840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/>
            <a:r>
              <a:rPr sz="2200" b="0" i="0">
                <a:solidFill>
                  <a:srgbClr val="000000"/>
                </a:solidFill>
                <a:latin typeface="Times New Roman"/>
              </a:rPr>
              <a:t>Live map: every link has a confidence.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22960" y="3108960"/>
            <a:ext cx="731520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Times New Roman"/>
              </a:rPr>
              <a:t>03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554480" y="3108960"/>
            <a:ext cx="97840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/>
            <a:r>
              <a:rPr sz="2200" b="0" i="0">
                <a:solidFill>
                  <a:srgbClr val="000000"/>
                </a:solidFill>
                <a:latin typeface="Times New Roman"/>
              </a:rPr>
              <a:t>Learn normal for each service from its own history.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22960" y="4023360"/>
            <a:ext cx="731520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Times New Roman"/>
              </a:rPr>
              <a:t>04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554480" y="4023360"/>
            <a:ext cx="97840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/>
            <a:r>
              <a:rPr sz="2200" b="0" i="0">
                <a:solidFill>
                  <a:srgbClr val="000000"/>
                </a:solidFill>
                <a:latin typeface="Times New Roman"/>
              </a:rPr>
              <a:t>Rank the root cause and forecast the spread.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22960" y="4937760"/>
            <a:ext cx="731520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Times New Roman"/>
              </a:rPr>
              <a:t>05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554480" y="4937760"/>
            <a:ext cx="97840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/>
            <a:r>
              <a:rPr sz="2200" b="0" i="0">
                <a:solidFill>
                  <a:srgbClr val="000000"/>
                </a:solidFill>
                <a:latin typeface="Times New Roman"/>
              </a:rPr>
              <a:t>Prove it with deliberately injected faults.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WORK DONE IN NUMBERS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sp>
        <p:nvSpPr>
          <p:cNvPr id="77" name="Rectangle 76"/>
          <p:cNvSpPr/>
          <p:nvPr/>
        </p:nvSpPr>
        <p:spPr>
          <a:xfrm>
            <a:off x="640080" y="1371600"/>
            <a:ext cx="3474720" cy="210312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 i="0">
                <a:solidFill>
                  <a:srgbClr val="1F2D5C"/>
                </a:solidFill>
                <a:latin typeface="Times New Roman"/>
              </a:rPr>
              <a:t>39,000</a:t>
            </a:r>
          </a:p>
          <a:p>
            <a:pPr algn="ctr"/>
            <a:r>
              <a:rPr sz="1600" b="0" i="0">
                <a:solidFill>
                  <a:srgbClr val="000000"/>
                </a:solidFill>
                <a:latin typeface="Times New Roman"/>
              </a:rPr>
              <a:t>lines of TypeScript
(server, collector, dashboard)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434840" y="1371600"/>
            <a:ext cx="3474720" cy="210312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 i="0">
                <a:solidFill>
                  <a:srgbClr val="1F2D5C"/>
                </a:solidFill>
                <a:latin typeface="Times New Roman"/>
              </a:rPr>
              <a:t>10,000</a:t>
            </a:r>
          </a:p>
          <a:p>
            <a:pPr algn="ctr"/>
            <a:r>
              <a:rPr sz="1600" b="0" i="0">
                <a:solidFill>
                  <a:srgbClr val="000000"/>
                </a:solidFill>
                <a:latin typeface="Times New Roman"/>
              </a:rPr>
              <a:t>lines of Python
(ML pipeline, simplified logic)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29600" y="1371600"/>
            <a:ext cx="3474720" cy="210312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 i="0">
                <a:solidFill>
                  <a:srgbClr val="1F2D5C"/>
                </a:solidFill>
                <a:latin typeface="Times New Roman"/>
              </a:rPr>
              <a:t>296</a:t>
            </a:r>
          </a:p>
          <a:p>
            <a:pPr algn="ctr"/>
            <a:r>
              <a:rPr sz="1600" b="0" i="0">
                <a:solidFill>
                  <a:srgbClr val="000000"/>
                </a:solidFill>
                <a:latin typeface="Times New Roman"/>
              </a:rPr>
              <a:t>automated tests, all passing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0080" y="3749039"/>
            <a:ext cx="3474720" cy="210312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 i="0">
                <a:solidFill>
                  <a:srgbClr val="1F2D5C"/>
                </a:solidFill>
                <a:latin typeface="Times New Roman"/>
              </a:rPr>
              <a:t>50</a:t>
            </a:r>
          </a:p>
          <a:p>
            <a:pPr algn="ctr"/>
            <a:r>
              <a:rPr sz="1600" b="0" i="0">
                <a:solidFill>
                  <a:srgbClr val="000000"/>
                </a:solidFill>
                <a:latin typeface="Times New Roman"/>
              </a:rPr>
              <a:t>documentation chapters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434840" y="3749039"/>
            <a:ext cx="3474720" cy="210312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 i="0">
                <a:solidFill>
                  <a:srgbClr val="1F2D5C"/>
                </a:solidFill>
                <a:latin typeface="Times New Roman"/>
              </a:rPr>
              <a:t>2</a:t>
            </a:r>
          </a:p>
          <a:p>
            <a:pPr algn="ctr"/>
            <a:r>
              <a:rPr sz="1600" b="0" i="0">
                <a:solidFill>
                  <a:srgbClr val="000000"/>
                </a:solidFill>
                <a:latin typeface="Times New Roman"/>
              </a:rPr>
              <a:t>benchmark systems on AWS EC2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29600" y="3749039"/>
            <a:ext cx="3474720" cy="210312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400" b="1" i="0">
                <a:solidFill>
                  <a:srgbClr val="1F2D5C"/>
                </a:solidFill>
                <a:latin typeface="Times New Roman"/>
              </a:rPr>
              <a:t>34</a:t>
            </a:r>
          </a:p>
          <a:p>
            <a:pPr algn="ctr"/>
            <a:r>
              <a:rPr sz="1600" b="0" i="0">
                <a:solidFill>
                  <a:srgbClr val="000000"/>
                </a:solidFill>
                <a:latin typeface="Times New Roman"/>
              </a:rPr>
              <a:t>faults injected over 217 minutes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REQUIREMENTS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sp>
        <p:nvSpPr>
          <p:cNvPr id="77" name="Rectangle 76"/>
          <p:cNvSpPr/>
          <p:nvPr/>
        </p:nvSpPr>
        <p:spPr>
          <a:xfrm>
            <a:off x="640080" y="1280160"/>
            <a:ext cx="539496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Times New Roman"/>
              </a:rPr>
              <a:t>Functional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" y="1920239"/>
            <a:ext cx="539496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285750" indent="-285750">
              <a:spcAft>
                <a:spcPts val="500"/>
              </a:spcAft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Find services and links over SSH</a:t>
            </a:r>
          </a:p>
          <a:p>
            <a:pPr marL="285750" indent="-285750">
              <a:spcAft>
                <a:spcPts val="500"/>
              </a:spcAft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Detect abnormal services</a:t>
            </a:r>
          </a:p>
          <a:p>
            <a:pPr marL="285750" indent="-285750">
              <a:spcAft>
                <a:spcPts val="500"/>
              </a:spcAft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Rank the root cause</a:t>
            </a:r>
          </a:p>
          <a:p>
            <a:pPr marL="285750" indent="-285750">
              <a:spcAft>
                <a:spcPts val="500"/>
              </a:spcAft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Predict services at risk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309360" y="1280160"/>
            <a:ext cx="539496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Times New Roman"/>
              </a:rPr>
              <a:t>Non-functional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9360" y="1920239"/>
            <a:ext cx="539496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285750" indent="-285750">
              <a:spcAft>
                <a:spcPts val="500"/>
              </a:spcAft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No code change in the services</a:t>
            </a:r>
          </a:p>
          <a:p>
            <a:pPr marL="285750" indent="-285750">
              <a:spcAft>
                <a:spcPts val="500"/>
              </a:spcAft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Runs on a normal CPU</a:t>
            </a:r>
          </a:p>
          <a:p>
            <a:pPr marL="285750" indent="-285750">
              <a:spcAft>
                <a:spcPts val="500"/>
              </a:spcAft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Every score has a reason</a:t>
            </a:r>
          </a:p>
          <a:p>
            <a:pPr marL="285750" indent="-285750">
              <a:spcAft>
                <a:spcPts val="500"/>
              </a:spcAft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Keys stay on your machine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0080" y="3611879"/>
            <a:ext cx="539496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Times New Roman"/>
              </a:rPr>
              <a:t>Software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0080" y="4251959"/>
            <a:ext cx="539496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285750" indent="-285750">
              <a:spcAft>
                <a:spcPts val="500"/>
              </a:spcAft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Node.js, TypeScript, React</a:t>
            </a:r>
          </a:p>
          <a:p>
            <a:pPr marL="285750" indent="-285750">
              <a:spcAft>
                <a:spcPts val="500"/>
              </a:spcAft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Docker on the target host</a:t>
            </a:r>
          </a:p>
          <a:p>
            <a:pPr marL="285750" indent="-285750">
              <a:spcAft>
                <a:spcPts val="500"/>
              </a:spcAft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Python 3 (optional ML)</a:t>
            </a:r>
          </a:p>
          <a:p>
            <a:pPr marL="285750" indent="-285750">
              <a:spcAft>
                <a:spcPts val="500"/>
              </a:spcAft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SSH access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3611879"/>
            <a:ext cx="5394960" cy="5486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Times New Roman"/>
              </a:rPr>
              <a:t>Hardware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09360" y="4251959"/>
            <a:ext cx="539496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285750" indent="-285750">
              <a:spcAft>
                <a:spcPts val="500"/>
              </a:spcAft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Any laptop or server</a:t>
            </a:r>
          </a:p>
          <a:p>
            <a:pPr marL="285750" indent="-285750">
              <a:spcAft>
                <a:spcPts val="500"/>
              </a:spcAft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Linux host with Docker</a:t>
            </a:r>
          </a:p>
          <a:p>
            <a:pPr marL="285750" indent="-285750">
              <a:spcAft>
                <a:spcPts val="500"/>
              </a:spcAft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Tested on AWS EC2</a:t>
            </a:r>
          </a:p>
          <a:p>
            <a:pPr marL="285750" indent="-285750">
              <a:spcAft>
                <a:spcPts val="500"/>
              </a:spcAft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No GPU needed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SYSTEM ARCHITECTURE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sp>
        <p:nvSpPr>
          <p:cNvPr id="77" name="Rounded Rectangle 76"/>
          <p:cNvSpPr/>
          <p:nvPr/>
        </p:nvSpPr>
        <p:spPr>
          <a:xfrm>
            <a:off x="274320" y="1097280"/>
            <a:ext cx="2926080" cy="3840480"/>
          </a:xfrm>
          <a:prstGeom prst="roundRect">
            <a:avLst>
              <a:gd name="adj" fmla="val 3000"/>
            </a:avLst>
          </a:prstGeom>
          <a:solidFill>
            <a:srgbClr val="FFFBEB"/>
          </a:solidFill>
          <a:ln w="317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74320" y="1143000"/>
            <a:ext cx="2926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 i="0">
                <a:solidFill>
                  <a:srgbClr val="B45309"/>
                </a:solidFill>
                <a:latin typeface="Times New Roman"/>
              </a:rPr>
              <a:t>Target host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74320" y="1536192"/>
            <a:ext cx="2926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Times New Roman"/>
              </a:rPr>
              <a:t>no agent installed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57200" y="1783080"/>
            <a:ext cx="25603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Times New Roman"/>
              </a:rPr>
              <a:t>Containers</a:t>
            </a:r>
          </a:p>
          <a:p>
            <a:pPr algn="ctr"/>
            <a:r>
              <a:rPr sz="1200" b="0" i="0">
                <a:solidFill>
                  <a:srgbClr val="666666"/>
                </a:solidFill>
                <a:latin typeface="Times New Roman"/>
              </a:rPr>
              <a:t>the running services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57200" y="2560320"/>
            <a:ext cx="25603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Times New Roman"/>
              </a:rPr>
              <a:t>Docker API</a:t>
            </a:r>
          </a:p>
          <a:p>
            <a:pPr algn="ctr"/>
            <a:r>
              <a:rPr sz="1200" b="0" i="0">
                <a:solidFill>
                  <a:srgbClr val="666666"/>
                </a:solidFill>
                <a:latin typeface="Times New Roman"/>
              </a:rPr>
              <a:t>stats, logs, events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57200" y="3337560"/>
            <a:ext cx="25603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Times New Roman"/>
              </a:rPr>
              <a:t>Socket tables</a:t>
            </a:r>
          </a:p>
          <a:p>
            <a:pPr algn="ctr"/>
            <a:r>
              <a:rPr sz="1200" b="0" i="0">
                <a:solidFill>
                  <a:srgbClr val="666666"/>
                </a:solidFill>
                <a:latin typeface="Times New Roman"/>
              </a:rPr>
              <a:t>/proc/&lt;pid&gt;/net/tcp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57200" y="4114800"/>
            <a:ext cx="256032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Times New Roman"/>
              </a:rPr>
              <a:t>Config file</a:t>
            </a:r>
          </a:p>
          <a:p>
            <a:pPr algn="ctr"/>
            <a:r>
              <a:rPr sz="1200" b="0" i="0">
                <a:solidFill>
                  <a:srgbClr val="666666"/>
                </a:solidFill>
                <a:latin typeface="Times New Roman"/>
              </a:rPr>
              <a:t>docker-compose.yml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74320" y="5074920"/>
            <a:ext cx="29260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0000"/>
                </a:solidFill>
                <a:latin typeface="Times New Roman"/>
              </a:rPr>
              <a:t>Traffic generator</a:t>
            </a:r>
          </a:p>
          <a:p>
            <a:pPr algn="ctr"/>
            <a:r>
              <a:rPr sz="1200" b="0" i="0">
                <a:solidFill>
                  <a:srgbClr val="666666"/>
                </a:solidFill>
                <a:latin typeface="Times New Roman"/>
              </a:rPr>
              <a:t>HTTP load, fault injection</a:t>
            </a:r>
          </a:p>
        </p:txBody>
      </p:sp>
      <p:cxnSp>
        <p:nvCxnSpPr>
          <p:cNvPr id="85" name="Connector 84"/>
          <p:cNvCxnSpPr/>
          <p:nvPr/>
        </p:nvCxnSpPr>
        <p:spPr>
          <a:xfrm flipV="1">
            <a:off x="1737360" y="4937760"/>
            <a:ext cx="0" cy="137160"/>
          </a:xfrm>
          <a:prstGeom prst="line">
            <a:avLst/>
          </a:prstGeom>
          <a:ln w="22225">
            <a:solidFill>
              <a:srgbClr val="B45309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4114800" y="1097280"/>
            <a:ext cx="4023360" cy="4572000"/>
          </a:xfrm>
          <a:prstGeom prst="roundRect">
            <a:avLst>
              <a:gd name="adj" fmla="val 3000"/>
            </a:avLst>
          </a:prstGeom>
          <a:solidFill>
            <a:srgbClr val="EFF6FF"/>
          </a:solidFill>
          <a:ln w="317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114800" y="1143000"/>
            <a:ext cx="4023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 i="0">
                <a:solidFill>
                  <a:srgbClr val="1D4ED8"/>
                </a:solidFill>
                <a:latin typeface="Times New Roman"/>
              </a:rPr>
              <a:t>Analysis backend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14800" y="1536192"/>
            <a:ext cx="4023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Times New Roman"/>
              </a:rPr>
              <a:t>Node.js, CPU only, no training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343400" y="1737360"/>
            <a:ext cx="356616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0000"/>
                </a:solidFill>
                <a:latin typeface="Times New Roman"/>
              </a:rPr>
              <a:t>1  Collection</a:t>
            </a:r>
          </a:p>
          <a:p>
            <a:pPr algn="ctr"/>
            <a:r>
              <a:rPr sz="1150" b="0" i="0">
                <a:solidFill>
                  <a:srgbClr val="666666"/>
                </a:solidFill>
                <a:latin typeface="Times New Roman"/>
              </a:rPr>
              <a:t>SSH polling, endpoint discovery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126480" y="2286000"/>
            <a:ext cx="0" cy="91440"/>
          </a:xfrm>
          <a:prstGeom prst="line">
            <a:avLst/>
          </a:prstGeom>
          <a:ln w="19050">
            <a:solidFill>
              <a:srgbClr val="1D4ED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4343400" y="2377439"/>
            <a:ext cx="356616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0000"/>
                </a:solidFill>
                <a:latin typeface="Times New Roman"/>
              </a:rPr>
              <a:t>2  Evidence graph</a:t>
            </a:r>
          </a:p>
          <a:p>
            <a:pPr algn="ctr"/>
            <a:r>
              <a:rPr sz="1150" b="0" i="0">
                <a:solidFill>
                  <a:srgbClr val="666666"/>
                </a:solidFill>
                <a:latin typeface="Times New Roman"/>
              </a:rPr>
              <a:t>declared / observed / both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6126480" y="2926080"/>
            <a:ext cx="0" cy="91440"/>
          </a:xfrm>
          <a:prstGeom prst="line">
            <a:avLst/>
          </a:prstGeom>
          <a:ln w="19050">
            <a:solidFill>
              <a:srgbClr val="1D4ED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4343400" y="3017520"/>
            <a:ext cx="356616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0000"/>
                </a:solidFill>
                <a:latin typeface="Times New Roman"/>
              </a:rPr>
              <a:t>3  Detection</a:t>
            </a:r>
          </a:p>
          <a:p>
            <a:pPr algn="ctr"/>
            <a:r>
              <a:rPr sz="1150" b="0" i="0">
                <a:solidFill>
                  <a:srgbClr val="666666"/>
                </a:solidFill>
                <a:latin typeface="Times New Roman"/>
              </a:rPr>
              <a:t>own baseline, 2 samples in a row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6126480" y="3566160"/>
            <a:ext cx="0" cy="91440"/>
          </a:xfrm>
          <a:prstGeom prst="line">
            <a:avLst/>
          </a:prstGeom>
          <a:ln w="19050">
            <a:solidFill>
              <a:srgbClr val="1D4ED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4343400" y="3657599"/>
            <a:ext cx="356616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0000"/>
                </a:solidFill>
                <a:latin typeface="Times New Roman"/>
              </a:rPr>
              <a:t>4  Root-cause ranking</a:t>
            </a:r>
          </a:p>
          <a:p>
            <a:pPr algn="ctr"/>
            <a:r>
              <a:rPr sz="1150" b="0" i="0">
                <a:solidFill>
                  <a:srgbClr val="666666"/>
                </a:solidFill>
                <a:latin typeface="Times New Roman"/>
              </a:rPr>
              <a:t>causes versus victims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6126480" y="4206240"/>
            <a:ext cx="0" cy="91439"/>
          </a:xfrm>
          <a:prstGeom prst="line">
            <a:avLst/>
          </a:prstGeom>
          <a:ln w="19050">
            <a:solidFill>
              <a:srgbClr val="1D4ED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ounded Rectangle 96"/>
          <p:cNvSpPr/>
          <p:nvPr/>
        </p:nvSpPr>
        <p:spPr>
          <a:xfrm>
            <a:off x="4343400" y="4297679"/>
            <a:ext cx="356616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0000"/>
                </a:solidFill>
                <a:latin typeface="Times New Roman"/>
              </a:rPr>
              <a:t>5  Cascade risk</a:t>
            </a:r>
          </a:p>
          <a:p>
            <a:pPr algn="ctr"/>
            <a:r>
              <a:rPr sz="1150" b="0" i="0">
                <a:solidFill>
                  <a:srgbClr val="666666"/>
                </a:solidFill>
                <a:latin typeface="Times New Roman"/>
              </a:rPr>
              <a:t>who is exposed next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6126480" y="4846320"/>
            <a:ext cx="0" cy="91440"/>
          </a:xfrm>
          <a:prstGeom prst="line">
            <a:avLst/>
          </a:prstGeom>
          <a:ln w="19050">
            <a:solidFill>
              <a:srgbClr val="1D4ED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Rounded Rectangle 98"/>
          <p:cNvSpPr/>
          <p:nvPr/>
        </p:nvSpPr>
        <p:spPr>
          <a:xfrm>
            <a:off x="4343400" y="4937760"/>
            <a:ext cx="356616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0000"/>
                </a:solidFill>
                <a:latin typeface="Times New Roman"/>
              </a:rPr>
              <a:t>6  Explanation</a:t>
            </a:r>
          </a:p>
          <a:p>
            <a:pPr algn="ctr"/>
            <a:r>
              <a:rPr sz="1150" b="0" i="0">
                <a:solidFill>
                  <a:srgbClr val="666666"/>
                </a:solidFill>
                <a:latin typeface="Times New Roman"/>
              </a:rPr>
              <a:t>ranking, blast radius, next steps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3200400" y="2286000"/>
            <a:ext cx="914400" cy="0"/>
          </a:xfrm>
          <a:prstGeom prst="line">
            <a:avLst/>
          </a:prstGeom>
          <a:ln w="34925">
            <a:solidFill>
              <a:srgbClr val="B4530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3108960" y="19202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B45309"/>
                </a:solidFill>
                <a:latin typeface="Times New Roman"/>
              </a:rPr>
              <a:t>SSH :22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9052560" y="1097280"/>
            <a:ext cx="2834640" cy="2651760"/>
          </a:xfrm>
          <a:prstGeom prst="roundRect">
            <a:avLst>
              <a:gd name="adj" fmla="val 3000"/>
            </a:avLst>
          </a:prstGeom>
          <a:solidFill>
            <a:srgbClr val="F0FDFA"/>
          </a:solidFill>
          <a:ln w="317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052560" y="1143000"/>
            <a:ext cx="2834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 i="0">
                <a:solidFill>
                  <a:srgbClr val="0F766E"/>
                </a:solidFill>
                <a:latin typeface="Times New Roman"/>
              </a:rPr>
              <a:t>Operator UI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52560" y="1536192"/>
            <a:ext cx="2834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Times New Roman"/>
              </a:rPr>
              <a:t>React, 2D and 3D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9235440" y="1737360"/>
            <a:ext cx="246888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0000"/>
                </a:solidFill>
                <a:latin typeface="Times New Roman"/>
              </a:rPr>
              <a:t>Dependency graph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9235440" y="2395728"/>
            <a:ext cx="246888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0000"/>
                </a:solidFill>
                <a:latin typeface="Times New Roman"/>
              </a:rPr>
              <a:t>Incidents and RCA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9235440" y="3054096"/>
            <a:ext cx="246888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0000"/>
                </a:solidFill>
                <a:latin typeface="Times New Roman"/>
              </a:rPr>
              <a:t>Risk, blast radius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8138160" y="2194560"/>
            <a:ext cx="914400" cy="0"/>
          </a:xfrm>
          <a:prstGeom prst="line">
            <a:avLst/>
          </a:prstGeom>
          <a:ln w="34925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8092440" y="182880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0F766E"/>
                </a:solidFill>
                <a:latin typeface="Times New Roman"/>
              </a:rPr>
              <a:t>WebSocket</a:t>
            </a:r>
          </a:p>
        </p:txBody>
      </p:sp>
      <p:cxnSp>
        <p:nvCxnSpPr>
          <p:cNvPr id="110" name="Connector 109"/>
          <p:cNvCxnSpPr/>
          <p:nvPr/>
        </p:nvCxnSpPr>
        <p:spPr>
          <a:xfrm flipH="1">
            <a:off x="8138160" y="3108960"/>
            <a:ext cx="914400" cy="0"/>
          </a:xfrm>
          <a:prstGeom prst="line">
            <a:avLst/>
          </a:prstGeom>
          <a:ln w="34925">
            <a:solidFill>
              <a:srgbClr val="0F76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8183879" y="313639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0F766E"/>
                </a:solidFill>
                <a:latin typeface="Times New Roman"/>
              </a:rPr>
              <a:t>REST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052560" y="3931920"/>
            <a:ext cx="2834640" cy="1737360"/>
          </a:xfrm>
          <a:prstGeom prst="roundRect">
            <a:avLst>
              <a:gd name="adj" fmla="val 3000"/>
            </a:avLst>
          </a:prstGeom>
          <a:solidFill>
            <a:srgbClr val="FAF5FF"/>
          </a:solidFill>
          <a:ln w="317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052560" y="3977639"/>
            <a:ext cx="2834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 i="0">
                <a:solidFill>
                  <a:srgbClr val="7C3AED"/>
                </a:solidFill>
                <a:latin typeface="Times New Roman"/>
              </a:rPr>
              <a:t>ML ensemble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052560" y="4370831"/>
            <a:ext cx="2834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Times New Roman"/>
              </a:rPr>
              <a:t>optional, scikit-learn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9235440" y="4572000"/>
            <a:ext cx="246888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 i="0">
                <a:solidFill>
                  <a:srgbClr val="000000"/>
                </a:solidFill>
                <a:latin typeface="Times New Roman"/>
              </a:rPr>
              <a:t>4 detectors</a:t>
            </a:r>
          </a:p>
          <a:p>
            <a:pPr algn="ctr"/>
            <a:r>
              <a:rPr sz="1150" b="0" i="0">
                <a:solidFill>
                  <a:srgbClr val="666666"/>
                </a:solidFill>
                <a:latin typeface="Times New Roman"/>
              </a:rPr>
              <a:t>majority vote, off by default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8138160" y="4343400"/>
            <a:ext cx="914400" cy="0"/>
          </a:xfrm>
          <a:prstGeom prst="line">
            <a:avLst/>
          </a:prstGeom>
          <a:ln w="34925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8092440" y="402336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7C3AED"/>
                </a:solidFill>
                <a:latin typeface="Times New Roman"/>
              </a:rPr>
              <a:t>metrics</a:t>
            </a:r>
          </a:p>
        </p:txBody>
      </p:sp>
      <p:cxnSp>
        <p:nvCxnSpPr>
          <p:cNvPr id="118" name="Connector 117"/>
          <p:cNvCxnSpPr/>
          <p:nvPr/>
        </p:nvCxnSpPr>
        <p:spPr>
          <a:xfrm flipH="1">
            <a:off x="8138160" y="5212080"/>
            <a:ext cx="914400" cy="0"/>
          </a:xfrm>
          <a:prstGeom prst="line">
            <a:avLst/>
          </a:prstGeom>
          <a:ln w="34925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8183879" y="523951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7C3AED"/>
                </a:solidFill>
                <a:latin typeface="Times New Roman"/>
              </a:rPr>
              <a:t>scores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640080" y="5742432"/>
            <a:ext cx="10972800" cy="566928"/>
          </a:xfrm>
          <a:prstGeom prst="roundRect">
            <a:avLst>
              <a:gd name="adj" fmla="val 15000"/>
            </a:avLst>
          </a:prstGeom>
          <a:solidFill>
            <a:srgbClr val="EEF4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600" b="1" i="0">
                <a:solidFill>
                  <a:srgbClr val="1D4ED8"/>
                </a:solidFill>
                <a:latin typeface="Times New Roman"/>
              </a:rPr>
              <a:t>In simple terms: </a:t>
            </a:r>
            <a:r>
              <a:rPr sz="1600" b="0" i="0">
                <a:solidFill>
                  <a:srgbClr val="000000"/>
                </a:solidFill>
                <a:latin typeface="Times New Roman"/>
              </a:rPr>
              <a:t>we read the system from outside, think in our backend, and show the answer on a dashboard.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ARCHITECTURE WORKFLOW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sp>
        <p:nvSpPr>
          <p:cNvPr id="77" name="Rounded Rectangle 76"/>
          <p:cNvSpPr/>
          <p:nvPr/>
        </p:nvSpPr>
        <p:spPr>
          <a:xfrm>
            <a:off x="502920" y="1325880"/>
            <a:ext cx="3429000" cy="150876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254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800" b="1" i="0">
                <a:solidFill>
                  <a:srgbClr val="000000"/>
                </a:solidFill>
                <a:latin typeface="Times New Roman"/>
              </a:rPr>
              <a:t>1  COLLECT</a:t>
            </a:r>
          </a:p>
          <a:p>
            <a:pPr algn="ctr"/>
            <a:r>
              <a:rPr sz="1400" b="0" i="0">
                <a:solidFill>
                  <a:srgbClr val="666666"/>
                </a:solidFill>
                <a:latin typeface="Times New Roman"/>
              </a:rPr>
              <a:t>Collector reads Docker stats, logs and sockets every 5 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02920" y="2862072"/>
            <a:ext cx="34290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B45309"/>
                </a:solidFill>
                <a:latin typeface="Times New Roman"/>
              </a:rPr>
              <a:t>remote-collector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3931920" y="2075688"/>
            <a:ext cx="365760" cy="0"/>
          </a:xfrm>
          <a:prstGeom prst="line">
            <a:avLst/>
          </a:prstGeom>
          <a:ln w="28575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4297680" y="1325880"/>
            <a:ext cx="3429000" cy="150876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254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800" b="1" i="0">
                <a:solidFill>
                  <a:srgbClr val="000000"/>
                </a:solidFill>
                <a:latin typeface="Times New Roman"/>
              </a:rPr>
              <a:t>2  INGEST</a:t>
            </a:r>
          </a:p>
          <a:p>
            <a:pPr algn="ctr"/>
            <a:r>
              <a:rPr sz="1400" b="0" i="0">
                <a:solidFill>
                  <a:srgbClr val="666666"/>
                </a:solidFill>
                <a:latin typeface="Times New Roman"/>
              </a:rPr>
              <a:t>Server merges readings into the graph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97680" y="2862072"/>
            <a:ext cx="34290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1D4ED8"/>
                </a:solidFill>
                <a:latin typeface="Times New Roman"/>
              </a:rPr>
              <a:t>graph_db.json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7726679" y="2075688"/>
            <a:ext cx="365761" cy="0"/>
          </a:xfrm>
          <a:prstGeom prst="line">
            <a:avLst/>
          </a:prstGeom>
          <a:ln w="28575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8092440" y="1325880"/>
            <a:ext cx="3429000" cy="150876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254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800" b="1" i="0">
                <a:solidFill>
                  <a:srgbClr val="000000"/>
                </a:solidFill>
                <a:latin typeface="Times New Roman"/>
              </a:rPr>
              <a:t>3  STORE</a:t>
            </a:r>
          </a:p>
          <a:p>
            <a:pPr algn="ctr"/>
            <a:r>
              <a:rPr sz="1400" b="0" i="0">
                <a:solidFill>
                  <a:srgbClr val="666666"/>
                </a:solidFill>
                <a:latin typeface="Times New Roman"/>
              </a:rPr>
              <a:t>720 readings per service, about 1 hour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92440" y="2862072"/>
            <a:ext cx="34290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1D4ED8"/>
                </a:solidFill>
                <a:latin typeface="Times New Roman"/>
              </a:rPr>
              <a:t>telemetry_db.json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502920" y="3337560"/>
            <a:ext cx="3429000" cy="150876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254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800" b="1" i="0">
                <a:solidFill>
                  <a:srgbClr val="000000"/>
                </a:solidFill>
                <a:latin typeface="Times New Roman"/>
              </a:rPr>
              <a:t>4  ANALYSE</a:t>
            </a:r>
          </a:p>
          <a:p>
            <a:pPr algn="ctr"/>
            <a:r>
              <a:rPr sz="1400" b="0" i="0">
                <a:solidFill>
                  <a:srgbClr val="666666"/>
                </a:solidFill>
                <a:latin typeface="Times New Roman"/>
              </a:rPr>
              <a:t>Detect, rank the cause, forecast the spread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02920" y="4873752"/>
            <a:ext cx="34290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1D4ED8"/>
                </a:solidFill>
                <a:latin typeface="Times New Roman"/>
              </a:rPr>
              <a:t>algorithms (in memory)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3931920" y="4087368"/>
            <a:ext cx="365760" cy="0"/>
          </a:xfrm>
          <a:prstGeom prst="line">
            <a:avLst/>
          </a:prstGeom>
          <a:ln w="28575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4297680" y="3337560"/>
            <a:ext cx="3429000" cy="150876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254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800" b="1" i="0">
                <a:solidFill>
                  <a:srgbClr val="000000"/>
                </a:solidFill>
                <a:latin typeface="Times New Roman"/>
              </a:rPr>
              <a:t>5  SERVE</a:t>
            </a:r>
          </a:p>
          <a:p>
            <a:pPr algn="ctr"/>
            <a:r>
              <a:rPr sz="1400" b="0" i="0">
                <a:solidFill>
                  <a:srgbClr val="666666"/>
                </a:solidFill>
                <a:latin typeface="Times New Roman"/>
              </a:rPr>
              <a:t>REST and WebSocket for the dashboard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97680" y="4873752"/>
            <a:ext cx="34290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0F766E"/>
                </a:solidFill>
                <a:latin typeface="Times New Roman"/>
              </a:rPr>
              <a:t>/api/*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7726679" y="4087368"/>
            <a:ext cx="365761" cy="0"/>
          </a:xfrm>
          <a:prstGeom prst="line">
            <a:avLst/>
          </a:prstGeom>
          <a:ln w="28575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8092440" y="3337560"/>
            <a:ext cx="3429000" cy="150876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254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800" b="1" i="0">
                <a:solidFill>
                  <a:srgbClr val="000000"/>
                </a:solidFill>
                <a:latin typeface="Times New Roman"/>
              </a:rPr>
              <a:t>6  SHOW</a:t>
            </a:r>
          </a:p>
          <a:p>
            <a:pPr algn="ctr"/>
            <a:r>
              <a:rPr sz="1400" b="0" i="0">
                <a:solidFill>
                  <a:srgbClr val="666666"/>
                </a:solidFill>
                <a:latin typeface="Times New Roman"/>
              </a:rPr>
              <a:t>Live map, incidents, cascade risk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92440" y="4873752"/>
            <a:ext cx="34290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0F766E"/>
                </a:solidFill>
                <a:latin typeface="Times New Roman"/>
              </a:rPr>
              <a:t>browser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02920" y="5349240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1">
                <a:solidFill>
                  <a:srgbClr val="666666"/>
                </a:solidFill>
                <a:latin typeface="Times New Roman"/>
              </a:rPr>
              <a:t>Offline only: the fault injector, the observer that records the mapper's answers, the scoring tool and the ML experiment.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40080" y="5760720"/>
            <a:ext cx="10972800" cy="566928"/>
          </a:xfrm>
          <a:prstGeom prst="roundRect">
            <a:avLst>
              <a:gd name="adj" fmla="val 15000"/>
            </a:avLst>
          </a:prstGeom>
          <a:solidFill>
            <a:srgbClr val="EEF4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600" b="1" i="0">
                <a:solidFill>
                  <a:srgbClr val="1D4ED8"/>
                </a:solidFill>
                <a:latin typeface="Times New Roman"/>
              </a:rPr>
              <a:t>In simple terms: </a:t>
            </a:r>
            <a:r>
              <a:rPr sz="1600" b="0" i="0">
                <a:solidFill>
                  <a:srgbClr val="000000"/>
                </a:solidFill>
                <a:latin typeface="Times New Roman"/>
              </a:rPr>
              <a:t>data goes in from the left, is analysed in the middle, and comes out as pictures on the right.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MODULES AND TECHNOLOGY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graphicFrame>
        <p:nvGraphicFramePr>
          <p:cNvPr id="77" name="Table 76"/>
          <p:cNvGraphicFramePr>
            <a:graphicFrameLocks noGrp="1"/>
          </p:cNvGraphicFramePr>
          <p:nvPr/>
        </p:nvGraphicFramePr>
        <p:xfrm>
          <a:off x="548640" y="1371600"/>
          <a:ext cx="11064240" cy="39502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1680"/>
                <a:gridCol w="2743200"/>
                <a:gridCol w="2743200"/>
                <a:gridCol w="356616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Times New Roman"/>
                        </a:rPr>
                        <a:t>Module</a:t>
                      </a:r>
                    </a:p>
                  </a:txBody>
                  <a:tcPr marL="64008" marR="64008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Times New Roman"/>
                        </a:rPr>
                        <a:t>Folder</a:t>
                      </a:r>
                    </a:p>
                  </a:txBody>
                  <a:tcPr marL="64008" marR="64008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Times New Roman"/>
                        </a:rPr>
                        <a:t>Built with</a:t>
                      </a:r>
                    </a:p>
                  </a:txBody>
                  <a:tcPr marL="64008" marR="64008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 i="0">
                          <a:solidFill>
                            <a:srgbClr val="FFFFFF"/>
                          </a:solidFill>
                          <a:latin typeface="Times New Roman"/>
                        </a:rPr>
                        <a:t>Job</a:t>
                      </a:r>
                    </a:p>
                  </a:txBody>
                  <a:tcPr marL="64008" marR="64008" marT="27432" marB="27432" anchor="ctr">
                    <a:solidFill>
                      <a:srgbClr val="00000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</a:rPr>
                        <a:t>Collector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remote-collector/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TypeScript, Docker API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Reads the host, pushes readings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</a:rPr>
                        <a:t>Server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server/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Node.js, Express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Graph, storage, API, live updates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</a:rPr>
                        <a:t>Algorithms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server/algorithms/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TypeScript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Detection, root cause, cascade, learning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</a:rPr>
                        <a:t>Dashboard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client/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React, three.js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2D and 3D map, incidents, risk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</a:rPr>
                        <a:t>ML experiment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ml/ and run/cli/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Python, scikit-learn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Optional detectors, model testing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700" b="1" i="0">
                          <a:solidFill>
                            <a:srgbClr val="000000"/>
                          </a:solidFill>
                          <a:latin typeface="Times New Roman"/>
                        </a:rPr>
                        <a:t>Test tools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run/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TypeScript, Python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 i="0">
                          <a:solidFill>
                            <a:srgbClr val="000000"/>
                          </a:solidFill>
                          <a:latin typeface="Times New Roman"/>
                        </a:rPr>
                        <a:t>Fault injection scoring, 296 tests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8" name="Rounded Rectangle 77"/>
          <p:cNvSpPr/>
          <p:nvPr/>
        </p:nvSpPr>
        <p:spPr>
          <a:xfrm>
            <a:off x="640080" y="5486400"/>
            <a:ext cx="10972800" cy="566928"/>
          </a:xfrm>
          <a:prstGeom prst="roundRect">
            <a:avLst>
              <a:gd name="adj" fmla="val 15000"/>
            </a:avLst>
          </a:prstGeom>
          <a:solidFill>
            <a:srgbClr val="EEF4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600" b="1" i="0">
                <a:solidFill>
                  <a:srgbClr val="1D4ED8"/>
                </a:solidFill>
                <a:latin typeface="Times New Roman"/>
              </a:rPr>
              <a:t>In simple terms: </a:t>
            </a:r>
            <a:r>
              <a:rPr sz="1600" b="0" i="0">
                <a:solidFill>
                  <a:srgbClr val="000000"/>
                </a:solidFill>
                <a:latin typeface="Times New Roman"/>
              </a:rPr>
              <a:t>each folder is one clear job, so any part can be explained or replaced on its own.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THE PRODUCT: LIVE MAP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pic>
        <p:nvPicPr>
          <p:cNvPr id="77" name="Picture 76" descr="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7680960" cy="4320540"/>
          </a:xfrm>
          <a:prstGeom prst="rect">
            <a:avLst/>
          </a:prstGeom>
          <a:ln w="12700">
            <a:solidFill>
              <a:srgbClr val="999999"/>
            </a:solidFill>
          </a:ln>
        </p:spPr>
      </p:pic>
      <p:sp>
        <p:nvSpPr>
          <p:cNvPr id="78" name="TextBox 77"/>
          <p:cNvSpPr txBox="1"/>
          <p:nvPr/>
        </p:nvSpPr>
        <p:spPr>
          <a:xfrm>
            <a:off x="457200" y="5577840"/>
            <a:ext cx="7680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Times New Roman"/>
              </a:rPr>
              <a:t>Dashboard on the built-in simulated shop: database crash scenario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0" y="1371600"/>
            <a:ext cx="34747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285750" indent="-285750">
              <a:spcAft>
                <a:spcPts val="1600"/>
              </a:spcAft>
              <a:buChar char="•"/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Every service is a block; colour shows health.</a:t>
            </a:r>
          </a:p>
          <a:p>
            <a:pPr marL="285750" indent="-285750">
              <a:spcAft>
                <a:spcPts val="1600"/>
              </a:spcAft>
              <a:buChar char="•"/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Lines are calls; red lines are failing links.</a:t>
            </a:r>
          </a:p>
          <a:p>
            <a:pPr marL="285750" indent="-285750">
              <a:spcAft>
                <a:spcPts val="1600"/>
              </a:spcAft>
              <a:buChar char="•"/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Here the database (orders-db) has stopped, shown in red.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THE PRODUCT: FINDING THE CAUSE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pic>
        <p:nvPicPr>
          <p:cNvPr id="77" name="Picture 76" descr="incid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7680960" cy="4320540"/>
          </a:xfrm>
          <a:prstGeom prst="rect">
            <a:avLst/>
          </a:prstGeom>
          <a:ln w="12700">
            <a:solidFill>
              <a:srgbClr val="999999"/>
            </a:solidFill>
          </a:ln>
        </p:spPr>
      </p:pic>
      <p:sp>
        <p:nvSpPr>
          <p:cNvPr id="78" name="TextBox 77"/>
          <p:cNvSpPr txBox="1"/>
          <p:nvPr/>
        </p:nvSpPr>
        <p:spPr>
          <a:xfrm>
            <a:off x="457200" y="5577840"/>
            <a:ext cx="7680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Times New Roman"/>
              </a:rPr>
              <a:t>Same scenario: the incident page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0" y="1371600"/>
            <a:ext cx="34747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285750" indent="-285750">
              <a:spcAft>
                <a:spcPts val="1600"/>
              </a:spcAft>
              <a:buChar char="•"/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It names orders-db as the root cause, with High confidence.</a:t>
            </a:r>
          </a:p>
          <a:p>
            <a:pPr marL="285750" indent="-285750">
              <a:spcAft>
                <a:spcPts val="1600"/>
              </a:spcAft>
              <a:buChar char="•"/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The ranking shows why: orders and frontend are victims.</a:t>
            </a:r>
          </a:p>
          <a:p>
            <a:pPr marL="285750" indent="-285750">
              <a:spcAft>
                <a:spcPts val="1600"/>
              </a:spcAft>
              <a:buChar char="•"/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It even suggests the first command to run.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THE PRODUCT: WHO IS NEXT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pic>
        <p:nvPicPr>
          <p:cNvPr id="77" name="Picture 76" descr="casc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7680960" cy="4320540"/>
          </a:xfrm>
          <a:prstGeom prst="rect">
            <a:avLst/>
          </a:prstGeom>
          <a:ln w="12700">
            <a:solidFill>
              <a:srgbClr val="999999"/>
            </a:solidFill>
          </a:ln>
        </p:spPr>
      </p:pic>
      <p:sp>
        <p:nvSpPr>
          <p:cNvPr id="78" name="TextBox 77"/>
          <p:cNvSpPr txBox="1"/>
          <p:nvPr/>
        </p:nvSpPr>
        <p:spPr>
          <a:xfrm>
            <a:off x="457200" y="5577840"/>
            <a:ext cx="7680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Times New Roman"/>
              </a:rPr>
              <a:t>Same scenario: the cascade page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0" y="1371600"/>
            <a:ext cx="34747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285750" indent="-285750">
              <a:spcAft>
                <a:spcPts val="1600"/>
              </a:spcAft>
              <a:buChar char="•"/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Shows how the failure travels and how likely each service is to be hit.</a:t>
            </a:r>
          </a:p>
          <a:p>
            <a:pPr marL="285750" indent="-285750">
              <a:spcAft>
                <a:spcPts val="1600"/>
              </a:spcAft>
              <a:buChar char="•"/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Risk only spreads from something that is really failing.</a:t>
            </a:r>
          </a:p>
          <a:p>
            <a:pPr marL="285750" indent="-285750">
              <a:spcAft>
                <a:spcPts val="1600"/>
              </a:spcAft>
              <a:buChar char="•"/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Probability shown for every service.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THE PRODUCT: DEPENDENCY MAP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pic>
        <p:nvPicPr>
          <p:cNvPr id="77" name="Picture 76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7680960" cy="4320540"/>
          </a:xfrm>
          <a:prstGeom prst="rect">
            <a:avLst/>
          </a:prstGeom>
          <a:ln w="12700">
            <a:solidFill>
              <a:srgbClr val="999999"/>
            </a:solidFill>
          </a:ln>
        </p:spPr>
      </p:pic>
      <p:sp>
        <p:nvSpPr>
          <p:cNvPr id="78" name="TextBox 77"/>
          <p:cNvSpPr txBox="1"/>
          <p:nvPr/>
        </p:nvSpPr>
        <p:spPr>
          <a:xfrm>
            <a:off x="457200" y="5577840"/>
            <a:ext cx="7680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1">
                <a:solidFill>
                  <a:srgbClr val="666666"/>
                </a:solidFill>
                <a:latin typeface="Times New Roman"/>
              </a:rPr>
              <a:t>Dependency graph of the simulated shop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0" y="1371600"/>
            <a:ext cx="34747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285750" indent="-285750">
              <a:spcAft>
                <a:spcPts val="1600"/>
              </a:spcAft>
              <a:buChar char="•"/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Discovered automatically, nothing declared by hand.</a:t>
            </a:r>
          </a:p>
          <a:p>
            <a:pPr marL="285750" indent="-285750">
              <a:spcAft>
                <a:spcPts val="1600"/>
              </a:spcAft>
              <a:buChar char="•"/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Each link is declared, observed, or both.</a:t>
            </a:r>
          </a:p>
          <a:p>
            <a:pPr marL="285750" indent="-285750">
              <a:spcAft>
                <a:spcPts val="1600"/>
              </a:spcAft>
              <a:buChar char="•"/>
            </a:pPr>
            <a:r>
              <a:rPr sz="1900" b="0" i="0">
                <a:solidFill>
                  <a:srgbClr val="000000"/>
                </a:solidFill>
                <a:latin typeface="Times New Roman"/>
              </a:rPr>
              <a:t>Live CPU and memory on every block.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STEP 1: DETECT A PROBLEM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graphicFrame>
        <p:nvGraphicFramePr>
          <p:cNvPr id="77" name="Chart 76"/>
          <p:cNvGraphicFramePr>
            <a:graphicFrameLocks noGrp="1"/>
          </p:cNvGraphicFramePr>
          <p:nvPr/>
        </p:nvGraphicFramePr>
        <p:xfrm>
          <a:off x="548640" y="1280160"/>
          <a:ext cx="6949440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8" name="TextBox 77"/>
          <p:cNvSpPr txBox="1"/>
          <p:nvPr/>
        </p:nvSpPr>
        <p:spPr>
          <a:xfrm>
            <a:off x="7772400" y="1371600"/>
            <a:ext cx="4023360" cy="3931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285750" indent="-285750">
              <a:spcAft>
                <a:spcPts val="1400"/>
              </a:spcAft>
              <a:buChar char="•"/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Normal: 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this service sits around 10% CPU.</a:t>
            </a:r>
          </a:p>
          <a:p>
            <a:pPr marL="285750" indent="-285750">
              <a:spcAft>
                <a:spcPts val="1400"/>
              </a:spcAft>
              <a:buChar char="•"/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Now: 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25% then 30%, two readings in a row.</a:t>
            </a:r>
          </a:p>
          <a:p>
            <a:pPr marL="285750" indent="-285750">
              <a:spcAft>
                <a:spcPts val="1400"/>
              </a:spcAft>
              <a:buChar char="•"/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Verdict: 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far outside its usual wobble, so raise an alarm.</a:t>
            </a:r>
          </a:p>
          <a:p>
            <a:pPr marL="285750" indent="-285750">
              <a:spcAft>
                <a:spcPts val="1400"/>
              </a:spcAft>
              <a:buChar char="•"/>
            </a:pPr>
            <a:r>
              <a:rPr sz="1900" b="1" i="0">
                <a:solidFill>
                  <a:srgbClr val="000000"/>
                </a:solidFill>
                <a:latin typeface="Times New Roman"/>
              </a:rPr>
              <a:t>Safe: </a:t>
            </a:r>
            <a:r>
              <a:rPr sz="1900" b="0" i="0">
                <a:solidFill>
                  <a:srgbClr val="000000"/>
                </a:solidFill>
                <a:latin typeface="Times New Roman"/>
              </a:rPr>
              <a:t>a missing reading is never treated as zero.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40080" y="5760720"/>
            <a:ext cx="10972800" cy="566928"/>
          </a:xfrm>
          <a:prstGeom prst="roundRect">
            <a:avLst>
              <a:gd name="adj" fmla="val 15000"/>
            </a:avLst>
          </a:prstGeom>
          <a:solidFill>
            <a:srgbClr val="EEF4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600" b="1" i="0">
                <a:solidFill>
                  <a:srgbClr val="1D4ED8"/>
                </a:solidFill>
                <a:latin typeface="Times New Roman"/>
              </a:rPr>
              <a:t>In simple terms: </a:t>
            </a:r>
            <a:r>
              <a:rPr sz="1600" b="0" i="0">
                <a:solidFill>
                  <a:srgbClr val="000000"/>
                </a:solidFill>
                <a:latin typeface="Times New Roman"/>
              </a:rPr>
              <a:t>we ask: is this service behaving unlike itself?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STEP 2: FIND THE ROOT CAUSE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sp>
        <p:nvSpPr>
          <p:cNvPr id="77" name="Rounded Rectangle 76"/>
          <p:cNvSpPr/>
          <p:nvPr/>
        </p:nvSpPr>
        <p:spPr>
          <a:xfrm>
            <a:off x="822960" y="1371600"/>
            <a:ext cx="38404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200" b="1" i="0">
                <a:solidFill>
                  <a:srgbClr val="000000"/>
                </a:solidFill>
                <a:latin typeface="Times New Roman"/>
              </a:rPr>
              <a:t>web</a:t>
            </a:r>
          </a:p>
          <a:p>
            <a:pPr algn="ctr"/>
            <a:r>
              <a:rPr sz="1500" b="0" i="0">
                <a:solidFill>
                  <a:srgbClr val="666666"/>
                </a:solidFill>
                <a:latin typeface="Times New Roman"/>
              </a:rPr>
              <a:t>errors and slow answers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22960" y="2880360"/>
            <a:ext cx="3840480" cy="100584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317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200" b="1" i="0">
                <a:solidFill>
                  <a:srgbClr val="000000"/>
                </a:solidFill>
                <a:latin typeface="Times New Roman"/>
              </a:rPr>
              <a:t>payments</a:t>
            </a:r>
          </a:p>
          <a:p>
            <a:pPr algn="ctr"/>
            <a:r>
              <a:rPr sz="1500" b="0" i="0">
                <a:solidFill>
                  <a:srgbClr val="666666"/>
                </a:solidFill>
                <a:latin typeface="Times New Roman"/>
              </a:rPr>
              <a:t>traffic collapsed, very slow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22960" y="4389120"/>
            <a:ext cx="38404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200" b="1" i="0">
                <a:solidFill>
                  <a:srgbClr val="000000"/>
                </a:solidFill>
                <a:latin typeface="Times New Roman"/>
              </a:rPr>
              <a:t>bank gateway</a:t>
            </a:r>
          </a:p>
          <a:p>
            <a:pPr algn="ctr"/>
            <a:r>
              <a:rPr sz="1500" b="0" i="0">
                <a:solidFill>
                  <a:srgbClr val="666666"/>
                </a:solidFill>
                <a:latin typeface="Times New Roman"/>
              </a:rPr>
              <a:t>normal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2743200" y="2377440"/>
            <a:ext cx="0" cy="50292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743200" y="3886200"/>
            <a:ext cx="0" cy="50292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2926080" y="2468880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0" i="1">
                <a:solidFill>
                  <a:srgbClr val="666666"/>
                </a:solidFill>
                <a:latin typeface="Times New Roman"/>
              </a:rPr>
              <a:t>calls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03520" y="1371600"/>
            <a:ext cx="6492240" cy="3931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285750" indent="-285750">
              <a:spcAft>
                <a:spcPts val="2200"/>
              </a:spcAft>
              <a:buChar char="•"/>
            </a:pPr>
            <a:r>
              <a:rPr sz="2200" b="1" i="0">
                <a:solidFill>
                  <a:srgbClr val="000000"/>
                </a:solidFill>
                <a:latin typeface="Times New Roman"/>
              </a:rPr>
              <a:t>web looks bad, </a:t>
            </a:r>
            <a:r>
              <a:rPr sz="2200" b="0" i="0">
                <a:solidFill>
                  <a:srgbClr val="000000"/>
                </a:solidFill>
                <a:latin typeface="Times New Roman"/>
              </a:rPr>
              <a:t>but payments, which it calls, explains it. So web is a victim.</a:t>
            </a:r>
          </a:p>
          <a:p>
            <a:pPr marL="285750" indent="-285750">
              <a:spcAft>
                <a:spcPts val="2200"/>
              </a:spcAft>
              <a:buChar char="•"/>
            </a:pPr>
            <a:r>
              <a:rPr sz="2200" b="1" i="0">
                <a:solidFill>
                  <a:srgbClr val="000000"/>
                </a:solidFill>
                <a:latin typeface="Times New Roman"/>
              </a:rPr>
              <a:t>payments looks bad </a:t>
            </a:r>
            <a:r>
              <a:rPr sz="2200" b="0" i="0">
                <a:solidFill>
                  <a:srgbClr val="000000"/>
                </a:solidFill>
                <a:latin typeface="Times New Roman"/>
              </a:rPr>
              <a:t>and nothing it calls explains it. So payments is the root cause.</a:t>
            </a:r>
          </a:p>
          <a:p>
            <a:pPr marL="285750" indent="-285750">
              <a:spcAft>
                <a:spcPts val="2200"/>
              </a:spcAft>
              <a:buChar char="•"/>
            </a:pPr>
            <a:r>
              <a:rPr sz="2200" b="1" i="0">
                <a:solidFill>
                  <a:srgbClr val="000000"/>
                </a:solidFill>
                <a:latin typeface="Times New Roman"/>
              </a:rPr>
              <a:t>A stopped container </a:t>
            </a:r>
            <a:r>
              <a:rPr sz="2200" b="0" i="0">
                <a:solidFill>
                  <a:srgbClr val="000000"/>
                </a:solidFill>
                <a:latin typeface="Times New Roman"/>
              </a:rPr>
              <a:t>always wins, it is a fact, not a guess.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40080" y="5760720"/>
            <a:ext cx="10972800" cy="566928"/>
          </a:xfrm>
          <a:prstGeom prst="roundRect">
            <a:avLst>
              <a:gd name="adj" fmla="val 15000"/>
            </a:avLst>
          </a:prstGeom>
          <a:solidFill>
            <a:srgbClr val="EEF4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600" b="1" i="0">
                <a:solidFill>
                  <a:srgbClr val="1D4ED8"/>
                </a:solidFill>
                <a:latin typeface="Times New Roman"/>
              </a:rPr>
              <a:t>In simple terms: </a:t>
            </a:r>
            <a:r>
              <a:rPr sz="1600" b="0" i="0">
                <a:solidFill>
                  <a:srgbClr val="000000"/>
                </a:solidFill>
                <a:latin typeface="Times New Roman"/>
              </a:rPr>
              <a:t>if A is only unwell because B, which it calls, is broken, then B is the one to fix.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STEP 3: PREDICT THE SPREAD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sp>
        <p:nvSpPr>
          <p:cNvPr id="77" name="Rounded Rectangle 76"/>
          <p:cNvSpPr/>
          <p:nvPr/>
        </p:nvSpPr>
        <p:spPr>
          <a:xfrm>
            <a:off x="822960" y="1371600"/>
            <a:ext cx="3657600" cy="100584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587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200" b="1" i="0">
                <a:solidFill>
                  <a:srgbClr val="000000"/>
                </a:solidFill>
                <a:latin typeface="Times New Roman"/>
              </a:rPr>
              <a:t>web</a:t>
            </a:r>
          </a:p>
          <a:p>
            <a:pPr algn="ctr"/>
            <a:r>
              <a:rPr sz="1600" b="0" i="0">
                <a:solidFill>
                  <a:srgbClr val="666666"/>
                </a:solidFill>
                <a:latin typeface="Times New Roman"/>
              </a:rPr>
              <a:t>chance of failing 46%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22960" y="2880360"/>
            <a:ext cx="3657600" cy="100584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200" b="1" i="0">
                <a:solidFill>
                  <a:srgbClr val="000000"/>
                </a:solidFill>
                <a:latin typeface="Times New Roman"/>
              </a:rPr>
              <a:t>orders</a:t>
            </a:r>
          </a:p>
          <a:p>
            <a:pPr algn="ctr"/>
            <a:r>
              <a:rPr sz="1600" b="0" i="0">
                <a:solidFill>
                  <a:srgbClr val="666666"/>
                </a:solidFill>
                <a:latin typeface="Times New Roman"/>
              </a:rPr>
              <a:t>chance of failing 82%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22960" y="4389120"/>
            <a:ext cx="3657600" cy="100584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3175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200" b="1" i="0">
                <a:solidFill>
                  <a:srgbClr val="000000"/>
                </a:solidFill>
                <a:latin typeface="Times New Roman"/>
              </a:rPr>
              <a:t>database</a:t>
            </a:r>
          </a:p>
          <a:p>
            <a:pPr algn="ctr"/>
            <a:r>
              <a:rPr sz="1600" b="0" i="0">
                <a:solidFill>
                  <a:srgbClr val="666666"/>
                </a:solidFill>
                <a:latin typeface="Times New Roman"/>
              </a:rPr>
              <a:t>stopped: 100%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2651760" y="2377440"/>
            <a:ext cx="0" cy="50292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651760" y="3886200"/>
            <a:ext cx="0" cy="502920"/>
          </a:xfrm>
          <a:prstGeom prst="line">
            <a:avLst/>
          </a:prstGeom>
          <a:ln w="2540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2834640" y="2468880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0" i="1">
                <a:solidFill>
                  <a:srgbClr val="666666"/>
                </a:solidFill>
                <a:latin typeface="Times New Roman"/>
              </a:rPr>
              <a:t>strong link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834640" y="3977639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0" i="1">
                <a:solidFill>
                  <a:srgbClr val="666666"/>
                </a:solidFill>
                <a:latin typeface="Times New Roman"/>
              </a:rPr>
              <a:t>very strong link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937760" y="1371600"/>
            <a:ext cx="6858000" cy="4023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285750" indent="-285750">
              <a:spcAft>
                <a:spcPts val="1200"/>
              </a:spcAft>
              <a:buChar char="•"/>
            </a:pPr>
            <a:r>
              <a:rPr sz="2000" b="1" i="0">
                <a:solidFill>
                  <a:srgbClr val="000000"/>
                </a:solidFill>
                <a:latin typeface="Times New Roman"/>
              </a:rPr>
              <a:t>Start: </a:t>
            </a:r>
            <a:r>
              <a:rPr sz="2000" b="0" i="0">
                <a:solidFill>
                  <a:srgbClr val="000000"/>
                </a:solidFill>
                <a:latin typeface="Times New Roman"/>
              </a:rPr>
              <a:t>stopped = 100%, slow or failing = 50%, healthy = 0%.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000" b="1" i="0">
                <a:solidFill>
                  <a:srgbClr val="000000"/>
                </a:solidFill>
                <a:latin typeface="Times New Roman"/>
              </a:rPr>
              <a:t>Pass on: </a:t>
            </a:r>
            <a:r>
              <a:rPr sz="2000" b="0" i="0">
                <a:solidFill>
                  <a:srgbClr val="000000"/>
                </a:solidFill>
                <a:latin typeface="Times New Roman"/>
              </a:rPr>
              <a:t>70% of a failure reaches the caller, scaled by how much it depends on it.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000" b="1" i="0">
                <a:solidFill>
                  <a:srgbClr val="000000"/>
                </a:solidFill>
                <a:latin typeface="Times New Roman"/>
              </a:rPr>
              <a:t>Result: </a:t>
            </a:r>
            <a:r>
              <a:rPr sz="2000" b="0" i="0">
                <a:solidFill>
                  <a:srgbClr val="000000"/>
                </a:solidFill>
                <a:latin typeface="Times New Roman"/>
              </a:rPr>
              <a:t>a ranked list of services at risk, and a "what if this one fails" view.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000" b="1" i="0">
                <a:solidFill>
                  <a:srgbClr val="000000"/>
                </a:solidFill>
                <a:latin typeface="Times New Roman"/>
              </a:rPr>
              <a:t>Honest: </a:t>
            </a:r>
            <a:r>
              <a:rPr sz="2000" b="0" i="0">
                <a:solidFill>
                  <a:srgbClr val="000000"/>
                </a:solidFill>
                <a:latin typeface="Times New Roman"/>
              </a:rPr>
              <a:t>this is a model with a stated assumption, not a measured number.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40080" y="5760720"/>
            <a:ext cx="10972800" cy="566928"/>
          </a:xfrm>
          <a:prstGeom prst="roundRect">
            <a:avLst>
              <a:gd name="adj" fmla="val 15000"/>
            </a:avLst>
          </a:prstGeom>
          <a:solidFill>
            <a:srgbClr val="EEF4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600" b="1" i="0">
                <a:solidFill>
                  <a:srgbClr val="1D4ED8"/>
                </a:solidFill>
                <a:latin typeface="Times New Roman"/>
              </a:rPr>
              <a:t>In simple terms: </a:t>
            </a:r>
            <a:r>
              <a:rPr sz="1600" b="0" i="0">
                <a:solidFill>
                  <a:srgbClr val="000000"/>
                </a:solidFill>
                <a:latin typeface="Times New Roman"/>
              </a:rPr>
              <a:t>a broken service drags down the ones that depend on it, a little less at each step.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DID MACHINE LEARNING HELP?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sp>
        <p:nvSpPr>
          <p:cNvPr id="77" name="Rectangle 76"/>
          <p:cNvSpPr/>
          <p:nvPr/>
        </p:nvSpPr>
        <p:spPr>
          <a:xfrm>
            <a:off x="822960" y="1371600"/>
            <a:ext cx="5120640" cy="201168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The idea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Times New Roman"/>
              </a:rPr>
              <a:t>Give a model the same signals and let it learn the weights from labelled faults.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217920" y="1371600"/>
            <a:ext cx="5120640" cy="201168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The test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Times New Roman"/>
              </a:rPr>
              <a:t>Train on the past, test on the future. Also train on one system and test on the other.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2960" y="3611880"/>
            <a:ext cx="5120640" cy="201168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The result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Times New Roman"/>
              </a:rPr>
              <a:t>It found only 50% of the faults. The rules found 97%.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17920" y="3611880"/>
            <a:ext cx="5120640" cy="201168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The decision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Times New Roman"/>
              </a:rPr>
              <a:t>Keep the simple, explainable rules. Retest when there is much more data.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HOW WE TESTED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sp>
        <p:nvSpPr>
          <p:cNvPr id="77" name="Rectangle 76"/>
          <p:cNvSpPr/>
          <p:nvPr/>
        </p:nvSpPr>
        <p:spPr>
          <a:xfrm>
            <a:off x="640080" y="1371600"/>
            <a:ext cx="3474720" cy="155448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 i="0">
                <a:solidFill>
                  <a:srgbClr val="1F2D5C"/>
                </a:solidFill>
                <a:latin typeface="Times New Roman"/>
              </a:rPr>
              <a:t>8</a:t>
            </a:r>
          </a:p>
          <a:p>
            <a:pPr algn="ctr"/>
            <a:r>
              <a:rPr sz="1600" b="0" i="0">
                <a:solidFill>
                  <a:srgbClr val="000000"/>
                </a:solidFill>
                <a:latin typeface="Times New Roman"/>
              </a:rPr>
              <a:t>Stopped container faults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434840" y="1371600"/>
            <a:ext cx="3474720" cy="155448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 i="0">
                <a:solidFill>
                  <a:srgbClr val="1F2D5C"/>
                </a:solidFill>
                <a:latin typeface="Times New Roman"/>
              </a:rPr>
              <a:t>10</a:t>
            </a:r>
          </a:p>
          <a:p>
            <a:pPr algn="ctr"/>
            <a:r>
              <a:rPr sz="1600" b="0" i="0">
                <a:solidFill>
                  <a:srgbClr val="000000"/>
                </a:solidFill>
                <a:latin typeface="Times New Roman"/>
              </a:rPr>
              <a:t>Crash faults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29600" y="1371600"/>
            <a:ext cx="3474720" cy="155448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 i="0">
                <a:solidFill>
                  <a:srgbClr val="1F2D5C"/>
                </a:solidFill>
                <a:latin typeface="Times New Roman"/>
              </a:rPr>
              <a:t>2</a:t>
            </a:r>
          </a:p>
          <a:p>
            <a:pPr algn="ctr"/>
            <a:r>
              <a:rPr sz="1600" b="0" i="0">
                <a:solidFill>
                  <a:srgbClr val="000000"/>
                </a:solidFill>
                <a:latin typeface="Times New Roman"/>
              </a:rPr>
              <a:t>Crash loop faults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0080" y="3154680"/>
            <a:ext cx="3474720" cy="155448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 i="0">
                <a:solidFill>
                  <a:srgbClr val="1F2D5C"/>
                </a:solidFill>
                <a:latin typeface="Times New Roman"/>
              </a:rPr>
              <a:t>6</a:t>
            </a:r>
          </a:p>
          <a:p>
            <a:pPr algn="ctr"/>
            <a:r>
              <a:rPr sz="1600" b="0" i="0">
                <a:solidFill>
                  <a:srgbClr val="000000"/>
                </a:solidFill>
                <a:latin typeface="Times New Roman"/>
              </a:rPr>
              <a:t>Memory pressure faults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434840" y="3154680"/>
            <a:ext cx="3474720" cy="155448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 i="0">
                <a:solidFill>
                  <a:srgbClr val="1F2D5C"/>
                </a:solidFill>
                <a:latin typeface="Times New Roman"/>
              </a:rPr>
              <a:t>6</a:t>
            </a:r>
          </a:p>
          <a:p>
            <a:pPr algn="ctr"/>
            <a:r>
              <a:rPr sz="1600" b="0" i="0">
                <a:solidFill>
                  <a:srgbClr val="000000"/>
                </a:solidFill>
                <a:latin typeface="Times New Roman"/>
              </a:rPr>
              <a:t>CPU brownout faults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29600" y="3154680"/>
            <a:ext cx="3474720" cy="155448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 i="0">
                <a:solidFill>
                  <a:srgbClr val="1F2D5C"/>
                </a:solidFill>
                <a:latin typeface="Times New Roman"/>
              </a:rPr>
              <a:t>2</a:t>
            </a:r>
          </a:p>
          <a:p>
            <a:pPr algn="ctr"/>
            <a:r>
              <a:rPr sz="1600" b="0" i="0">
                <a:solidFill>
                  <a:srgbClr val="000000"/>
                </a:solidFill>
                <a:latin typeface="Times New Roman"/>
              </a:rPr>
              <a:t>Paused faults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31520" y="5029200"/>
            <a:ext cx="109728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285750" indent="-285750">
              <a:spcAft>
                <a:spcPts val="600"/>
              </a:spcAft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Two systems: ShopFlow (13 services) and LedgerLine (12 services) on AWS EC2.</a:t>
            </a:r>
          </a:p>
          <a:p>
            <a:pPr marL="285750" indent="-285750">
              <a:spcAft>
                <a:spcPts val="600"/>
              </a:spcAft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217 minutes recorded; 34 faults in six kinds.</a:t>
            </a:r>
          </a:p>
          <a:p>
            <a:pPr marL="285750" indent="-285750">
              <a:spcAft>
                <a:spcPts val="600"/>
              </a:spcAft>
              <a:buChar char="•"/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Scores come from comparing the mapper's output with the answer key.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RESULT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graphicFrame>
        <p:nvGraphicFramePr>
          <p:cNvPr id="77" name="Table 76"/>
          <p:cNvGraphicFramePr>
            <a:graphicFrameLocks noGrp="1"/>
          </p:cNvGraphicFramePr>
          <p:nvPr/>
        </p:nvGraphicFramePr>
        <p:xfrm>
          <a:off x="731520" y="1371600"/>
          <a:ext cx="10698480" cy="3566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40480"/>
                <a:gridCol w="2103120"/>
                <a:gridCol w="2651760"/>
                <a:gridCol w="2103120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21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 marL="64008" marR="64008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100" b="1" i="0">
                          <a:solidFill>
                            <a:srgbClr val="FFFFFF"/>
                          </a:solidFill>
                          <a:latin typeface="Times New Roman"/>
                        </a:rPr>
                        <a:t>Faults detected</a:t>
                      </a:r>
                    </a:p>
                  </a:txBody>
                  <a:tcPr marL="64008" marR="64008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100" b="1" i="0">
                          <a:solidFill>
                            <a:srgbClr val="FFFFFF"/>
                          </a:solidFill>
                          <a:latin typeface="Times New Roman"/>
                        </a:rPr>
                        <a:t>Right service first</a:t>
                      </a:r>
                    </a:p>
                  </a:txBody>
                  <a:tcPr marL="64008" marR="64008" marT="27432" marB="27432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100" b="1" i="0">
                          <a:solidFill>
                            <a:srgbClr val="FFFFFF"/>
                          </a:solidFill>
                          <a:latin typeface="Times New Roman"/>
                        </a:rPr>
                        <a:t>False alarms / hour</a:t>
                      </a:r>
                    </a:p>
                  </a:txBody>
                  <a:tcPr marL="64008" marR="64008" marT="27432" marB="27432" anchor="ctr">
                    <a:solidFill>
                      <a:srgbClr val="000000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200" b="1" i="0">
                          <a:solidFill>
                            <a:srgbClr val="000000"/>
                          </a:solidFill>
                          <a:latin typeface="Times New Roman"/>
                        </a:rPr>
                        <a:t>Live mapper (rules)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200" b="0" i="0">
                          <a:solidFill>
                            <a:srgbClr val="000000"/>
                          </a:solidFill>
                          <a:latin typeface="Times New Roman"/>
                        </a:rPr>
                        <a:t>97%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200" b="0" i="0">
                          <a:solidFill>
                            <a:srgbClr val="000000"/>
                          </a:solidFill>
                          <a:latin typeface="Times New Roman"/>
                        </a:rPr>
                        <a:t>58%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200" b="0" i="0">
                          <a:solidFill>
                            <a:srgbClr val="000000"/>
                          </a:solidFill>
                          <a:latin typeface="Times New Roman"/>
                        </a:rPr>
                        <a:t>5.9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200" b="1" i="0">
                          <a:solidFill>
                            <a:srgbClr val="000000"/>
                          </a:solidFill>
                          <a:latin typeface="Times New Roman"/>
                        </a:rPr>
                        <a:t>Rules, fixed threshold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200" b="0" i="0">
                          <a:solidFill>
                            <a:srgbClr val="000000"/>
                          </a:solidFill>
                          <a:latin typeface="Times New Roman"/>
                        </a:rPr>
                        <a:t>97%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200" b="0" i="0">
                          <a:solidFill>
                            <a:srgbClr val="000000"/>
                          </a:solidFill>
                          <a:latin typeface="Times New Roman"/>
                        </a:rPr>
                        <a:t>55%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200" b="0" i="0">
                          <a:solidFill>
                            <a:srgbClr val="000000"/>
                          </a:solidFill>
                          <a:latin typeface="Times New Roman"/>
                        </a:rPr>
                        <a:t>8.9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200" b="1" i="0">
                          <a:solidFill>
                            <a:srgbClr val="000000"/>
                          </a:solidFill>
                          <a:latin typeface="Times New Roman"/>
                        </a:rPr>
                        <a:t>Rules, tuned threshold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200" b="0" i="0">
                          <a:solidFill>
                            <a:srgbClr val="000000"/>
                          </a:solidFill>
                          <a:latin typeface="Times New Roman"/>
                        </a:rPr>
                        <a:t>82%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200" b="0" i="0">
                          <a:solidFill>
                            <a:srgbClr val="000000"/>
                          </a:solidFill>
                          <a:latin typeface="Times New Roman"/>
                        </a:rPr>
                        <a:t>46%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200" b="0" i="0">
                          <a:solidFill>
                            <a:srgbClr val="000000"/>
                          </a:solidFill>
                          <a:latin typeface="Times New Roman"/>
                        </a:rPr>
                        <a:t>4.4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2200" b="1" i="0">
                          <a:solidFill>
                            <a:srgbClr val="000000"/>
                          </a:solidFill>
                          <a:latin typeface="Times New Roman"/>
                        </a:rPr>
                        <a:t>Learned model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200" b="0" i="0">
                          <a:solidFill>
                            <a:srgbClr val="000000"/>
                          </a:solidFill>
                          <a:latin typeface="Times New Roman"/>
                        </a:rPr>
                        <a:t>50%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200" b="0" i="0">
                          <a:solidFill>
                            <a:srgbClr val="000000"/>
                          </a:solidFill>
                          <a:latin typeface="Times New Roman"/>
                        </a:rPr>
                        <a:t>53%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2200" b="0" i="0">
                          <a:solidFill>
                            <a:srgbClr val="000000"/>
                          </a:solidFill>
                          <a:latin typeface="Times New Roman"/>
                        </a:rPr>
                        <a:t>3.0</a:t>
                      </a:r>
                    </a:p>
                  </a:txBody>
                  <a:tcPr marL="64008" marR="64008" marT="27432" marB="27432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8" name="TextBox 77"/>
          <p:cNvSpPr txBox="1"/>
          <p:nvPr/>
        </p:nvSpPr>
        <p:spPr>
          <a:xfrm>
            <a:off x="731520" y="5029200"/>
            <a:ext cx="106984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Times New Roman"/>
              </a:rPr>
              <a:t>Right service first is measured among the faults that were detected. Only 34 faults, so small differences are noise.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40080" y="5669280"/>
            <a:ext cx="10972800" cy="566928"/>
          </a:xfrm>
          <a:prstGeom prst="roundRect">
            <a:avLst>
              <a:gd name="adj" fmla="val 15000"/>
            </a:avLst>
          </a:prstGeom>
          <a:solidFill>
            <a:srgbClr val="EEF4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600" b="1" i="0">
                <a:solidFill>
                  <a:srgbClr val="1D4ED8"/>
                </a:solidFill>
                <a:latin typeface="Times New Roman"/>
              </a:rPr>
              <a:t>In simple terms: </a:t>
            </a:r>
            <a:r>
              <a:rPr sz="1600" b="0" i="0">
                <a:solidFill>
                  <a:srgbClr val="000000"/>
                </a:solidFill>
                <a:latin typeface="Times New Roman"/>
              </a:rPr>
              <a:t>the simple rules found almost every fault; the learned model found about half.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PERFORMANCE COMPARISON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graphicFrame>
        <p:nvGraphicFramePr>
          <p:cNvPr id="77" name="Chart 76"/>
          <p:cNvGraphicFramePr>
            <a:graphicFrameLocks noGrp="1"/>
          </p:cNvGraphicFramePr>
          <p:nvPr/>
        </p:nvGraphicFramePr>
        <p:xfrm>
          <a:off x="548640" y="1280160"/>
          <a:ext cx="6675120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8" name="Chart 77"/>
          <p:cNvGraphicFramePr>
            <a:graphicFrameLocks noGrp="1"/>
          </p:cNvGraphicFramePr>
          <p:nvPr/>
        </p:nvGraphicFramePr>
        <p:xfrm>
          <a:off x="7406640" y="1280160"/>
          <a:ext cx="4389120" cy="4572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KEY FINDINGS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sp>
        <p:nvSpPr>
          <p:cNvPr id="77" name="Rectangle 76"/>
          <p:cNvSpPr/>
          <p:nvPr/>
        </p:nvSpPr>
        <p:spPr>
          <a:xfrm>
            <a:off x="731520" y="1371600"/>
            <a:ext cx="3383280" cy="219456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5400" b="1" i="0">
                <a:solidFill>
                  <a:srgbClr val="1F2D5C"/>
                </a:solidFill>
                <a:latin typeface="Times New Roman"/>
              </a:rPr>
              <a:t>97%</a:t>
            </a:r>
          </a:p>
          <a:p>
            <a:pPr algn="ctr"/>
            <a:r>
              <a:rPr sz="1600" b="0" i="0">
                <a:solidFill>
                  <a:srgbClr val="000000"/>
                </a:solidFill>
                <a:latin typeface="Times New Roman"/>
              </a:rPr>
              <a:t>of faults detected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389120" y="1371600"/>
            <a:ext cx="3383280" cy="219456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5400" b="1" i="0">
                <a:solidFill>
                  <a:srgbClr val="1F2D5C"/>
                </a:solidFill>
                <a:latin typeface="Times New Roman"/>
              </a:rPr>
              <a:t>58%</a:t>
            </a:r>
          </a:p>
          <a:p>
            <a:pPr algn="ctr"/>
            <a:r>
              <a:rPr sz="1600" b="0" i="0">
                <a:solidFill>
                  <a:srgbClr val="000000"/>
                </a:solidFill>
                <a:latin typeface="Times New Roman"/>
              </a:rPr>
              <a:t>named the right service first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46720" y="1371600"/>
            <a:ext cx="3383280" cy="2194560"/>
          </a:xfrm>
          <a:prstGeom prst="rect">
            <a:avLst/>
          </a:prstGeom>
          <a:solidFill>
            <a:srgbClr val="F2F2F2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5400" b="1" i="0">
                <a:solidFill>
                  <a:srgbClr val="1F2D5C"/>
                </a:solidFill>
                <a:latin typeface="Times New Roman"/>
              </a:rPr>
              <a:t>5.9 / h</a:t>
            </a:r>
          </a:p>
          <a:p>
            <a:pPr algn="ctr"/>
            <a:r>
              <a:rPr sz="1600" b="0" i="0">
                <a:solidFill>
                  <a:srgbClr val="000000"/>
                </a:solidFill>
                <a:latin typeface="Times New Roman"/>
              </a:rPr>
              <a:t>false alarms per hour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931920"/>
            <a:ext cx="1088136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285750" indent="-285750">
              <a:spcAft>
                <a:spcPts val="1200"/>
              </a:spcAft>
              <a:buChar char="•"/>
            </a:pPr>
            <a:r>
              <a:rPr sz="2200" b="1" i="0">
                <a:solidFill>
                  <a:srgbClr val="000000"/>
                </a:solidFill>
                <a:latin typeface="Times New Roman"/>
              </a:rPr>
              <a:t>Decision: </a:t>
            </a:r>
            <a:r>
              <a:rPr sz="2200" b="0" i="0">
                <a:solidFill>
                  <a:srgbClr val="000000"/>
                </a:solidFill>
                <a:latin typeface="Times New Roman"/>
              </a:rPr>
              <a:t>the learned model found only 50% of faults, so the rules stay.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1" i="0">
                <a:solidFill>
                  <a:srgbClr val="000000"/>
                </a:solidFill>
                <a:latin typeface="Times New Roman"/>
              </a:rPr>
              <a:t>Limit: </a:t>
            </a:r>
            <a:r>
              <a:rPr sz="2200" b="0" i="0">
                <a:solidFill>
                  <a:srgbClr val="000000"/>
                </a:solidFill>
                <a:latin typeface="Times New Roman"/>
              </a:rPr>
              <a:t>34 faults is a small sample.</a:t>
            </a:r>
          </a:p>
          <a:p>
            <a:pPr marL="285750" indent="-285750">
              <a:spcAft>
                <a:spcPts val="1200"/>
              </a:spcAft>
              <a:buChar char="•"/>
            </a:pPr>
            <a:r>
              <a:rPr sz="2200" b="1" i="0">
                <a:solidFill>
                  <a:srgbClr val="000000"/>
                </a:solidFill>
                <a:latin typeface="Times New Roman"/>
              </a:rPr>
              <a:t>Cascade: </a:t>
            </a:r>
            <a:r>
              <a:rPr sz="2200" b="0" i="0">
                <a:solidFill>
                  <a:srgbClr val="000000"/>
                </a:solidFill>
                <a:latin typeface="Times New Roman"/>
              </a:rPr>
              <a:t>the probabilities are a model, not measured.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CONCLUSION AND FUTURE WORK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sp>
        <p:nvSpPr>
          <p:cNvPr id="77" name="TextBox 76"/>
          <p:cNvSpPr txBox="1"/>
          <p:nvPr/>
        </p:nvSpPr>
        <p:spPr>
          <a:xfrm>
            <a:off x="731520" y="1463040"/>
            <a:ext cx="106984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marL="285750" indent="-285750">
              <a:spcAft>
                <a:spcPts val="2400"/>
              </a:spcAft>
              <a:buChar char="•"/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Conclusion: 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an agentless tool that learns normal per service, ranks the root cause and forecasts the spread.</a:t>
            </a:r>
          </a:p>
          <a:p>
            <a:pPr marL="285750" indent="-285750">
              <a:spcAft>
                <a:spcPts val="2400"/>
              </a:spcAft>
              <a:buChar char="•"/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Evidence: 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97% of 34 faults detected; right service first in 58% of those.</a:t>
            </a:r>
          </a:p>
          <a:p>
            <a:pPr marL="285750" indent="-285750">
              <a:spcAft>
                <a:spcPts val="2400"/>
              </a:spcAft>
              <a:buChar char="•"/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Future work: 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more labelled faults, calibrate the cascade, support Kubernetes.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REFERENCE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sp>
        <p:nvSpPr>
          <p:cNvPr id="77" name="TextBox 76"/>
          <p:cNvSpPr txBox="1"/>
          <p:nvPr/>
        </p:nvSpPr>
        <p:spPr>
          <a:xfrm>
            <a:off x="731520" y="114300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[1] L. Wu, J. Tordsson, E. Elmroth, O. Kao. MicroRCA: Root Cause Localization of Performance Issues in Microservices. IEEE/IFIP NOMS, 2020.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[2] P. Wang, J. Xu, M. Ma, et al. CloudRanger: Root Cause Identification for Cloud Native Systems. IEEE/ACM CCGrid, 2018.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[3] J. Lin, P. Chen, Z. Zheng. Microscope: Pinpoint Performance Issues with Causal Graphs in Micro-service Environments. ICSOC, 2018.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[4] Y. Gan, M. Liang, S. Dev, D. Lo, C. Delimitrou. Sage: Practical and Scalable ML-Driven Performance Debugging in Microservices. ASPLOS, 2021.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[5] A. Ikram, S. Chakraborty, S. Mitra, S. Saini, S. Bagchi, M. Kocaoglu. Root Cause Analysis of Failures in Microservices through Causal Discovery. NeurIPS, 2022.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[6] M. Chen, E. Kiciman, E. Fratkin, A. Fox, E. Brewer. Pinpoint: Problem Determination in Large, Dynamic Internet Services. IEEE DSN, 2002.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[7] M. Kim, R. Sumbaly, S. Shah. Root Cause Detection in a Service-Oriented Architecture. ACM SIGMETRICS, 2013.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[8] M. Ma, J. Xu, Y. Wang, P. Chen, Z. Zhang, P. Wang. MS-Rank: Multi-Metric and Self-Adaptive Root Cause Diagnosis for Microservice Applications. IEEE ICWS, 2019.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[9] M. Ma, J. Xu, Y. Wang, P. Chen, Z. Zhang, P. Wang. AutoMAP: Diagnose Your Microservice-based Web Applications Automatically. WWW, 2020.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[10] X. Zhou, X. Peng, T. Xie, et al. Fault Analysis and Debugging of Microservice Systems: Industrial Survey, Benchmark System, and Empirical Study. IEEE TSE, 2018.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821" y="300512"/>
            <a:ext cx="11151223" cy="813505"/>
          </a:xfrm>
        </p:spPr>
        <p:txBody>
          <a:bodyPr/>
          <a:lstStyle/>
          <a:p>
            <a:pPr algn="ctr"/>
            <a:r>
              <a:rPr sz="3000" b="0" i="0">
                <a:solidFill>
                  <a:srgbClr val="000000"/>
                </a:solidFill>
                <a:latin typeface="Times New Roman"/>
              </a:rPr>
              <a:t>REFERENCE (CONTINUED)</a:t>
            </a:r>
          </a:p>
        </p:txBody>
      </p:sp>
      <p:sp>
        <p:nvSpPr>
          <p:cNvPr id="74" name="Google Shape;74;p9"/>
          <p:cNvSpPr txBox="1">
            <a:spLocks noGrp="1"/>
          </p:cNvSpPr>
          <p:nvPr>
            <p:ph type="ftr" idx="11"/>
          </p:nvPr>
        </p:nvSpPr>
        <p:spPr>
          <a:xfrm>
            <a:off x="5486400" y="6339480"/>
            <a:ext cx="1445259" cy="218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06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pc="-10"/>
              <a:t>    Dept</a:t>
            </a:r>
            <a:r>
              <a:rPr lang="en-IN" spc="-50"/>
              <a:t> </a:t>
            </a:r>
            <a:r>
              <a:rPr lang="en-IN" spc="-30">
                <a:solidFill>
                  <a:srgbClr val="7E7E7E"/>
                </a:solidFill>
              </a:rPr>
              <a:t>of</a:t>
            </a:r>
            <a:r>
              <a:rPr lang="en-IN" spc="-20">
                <a:solidFill>
                  <a:srgbClr val="7E7E7E"/>
                </a:solidFill>
              </a:rPr>
              <a:t> </a:t>
            </a:r>
            <a:r>
              <a:rPr lang="en-IN" spc="-85"/>
              <a:t>AIML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dt" idx="10"/>
          </p:nvPr>
        </p:nvSpPr>
        <p:spPr>
          <a:xfrm>
            <a:off x="1132803" y="6333334"/>
            <a:ext cx="869400" cy="2520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576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IN" sz="1300" dirty="0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14-10-2026</a:t>
            </a:r>
            <a:endParaRPr spc="-20" dirty="0"/>
          </a:p>
        </p:txBody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703277" y="6368138"/>
            <a:ext cx="2444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2700" lvl="0" indent="0" algn="l" rtl="0">
              <a:lnSpc>
                <a:spcPct val="123076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pc="-25"/>
              <a:t>3</a:t>
            </a:fld>
            <a:endParaRPr spc="-25"/>
          </a:p>
        </p:txBody>
      </p:sp>
      <p:sp>
        <p:nvSpPr>
          <p:cNvPr id="77" name="TextBox 76"/>
          <p:cNvSpPr txBox="1"/>
          <p:nvPr/>
        </p:nvSpPr>
        <p:spPr>
          <a:xfrm>
            <a:off x="731520" y="114300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[11] Y. Gan, Y. Zhang, D. Cheng, et al. An Open-Source Benchmark Suite for Microservices and Their Hardware-Software Implications for Cloud and Edge Systems. ASPLOS, 2019.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[12] B. Sigelman, L. Barroso, M. Burrows, et al. Dapper, a Large-Scale Distributed Systems Tracing Infrastructure. Google Technical Report, 2010.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[13] R. Fonseca, G. Porter, R. Katz, S. Shenker, I. Stoica. X-Trace: A Pervasive Network Tracing Framework. USENIX NSDI, 2007.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[14] J. Soldani, A. Brogi. Anomaly Detection and Failure Root Cause Analysis in (Micro)Service-Based Cloud Applications: A Survey. ACM Computing Surveys, 2022.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[15] V. Chandola, A. Banerjee, V. Kumar. Anomaly Detection: A Survey. ACM Computing Surveys, 2009.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[16] C. Leys, C. Ley, O. Klein, P. Bernard, L. Licata. Detecting Outliers: Do Not Use Standard Deviation Around the Mean, Use Absolute Deviation Around the Median. J. Experimental Social Psychology, 2013.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[17] J. Pearl. Probabilistic Reasoning in Intelligent Systems: Networks of Plausible Inference. Morgan Kaufmann, 1988.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[18] T. Hastie, R. Tibshirani, J. Friedman. The Elements of Statistical Learning. Springer, 2nd edition, 2009.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[19] C. Bergmeir, J. Benitez. On the Use of Cross-Validation for Time Series Predictor Evaluation. Information Sciences, 2012.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000000"/>
                </a:solidFill>
                <a:latin typeface="Times New Roman"/>
              </a:rPr>
              <a:t>[20] A. Basiri, N. Behnam, R. de Rooij, et al. Chaos Engineering. IEEE Software, 2016.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693</Words>
  <Application>Microsoft Office PowerPoint</Application>
  <PresentationFormat>Widescreen</PresentationFormat>
  <Paragraphs>68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Times New Roman</vt:lpstr>
      <vt:lpstr>Office Theme</vt:lpstr>
      <vt:lpstr>PowerPoint Presentation</vt:lpstr>
      <vt:lpstr>SUMMARY &amp; OVERVIEW</vt:lpstr>
      <vt:lpstr>ABSTRACT</vt:lpstr>
      <vt:lpstr>INTRODUCTION</vt:lpstr>
      <vt:lpstr>PROBLEM STATEMENT</vt:lpstr>
      <vt:lpstr>OBJECTIVES</vt:lpstr>
      <vt:lpstr>RESEARCH GAP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Windows User</dc:creator>
  <cp:lastModifiedBy>Windows User</cp:lastModifiedBy>
  <cp:revision>3</cp:revision>
  <dcterms:created xsi:type="dcterms:W3CDTF">2026-10-13T21:45:50Z</dcterms:created>
  <dcterms:modified xsi:type="dcterms:W3CDTF">2026-10-13T21:58:28Z</dcterms:modified>
</cp:coreProperties>
</file>